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072EF8-8C95-4E28-ADD0-6A00F3345142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01041B-C843-4930-8465-9FD0C8B7AE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954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Nguồn: đề cương G2 và báo cáo, mục 1.2–1.3. Phân biệt sinh tín hiệu theo HR với dự báo từ lịch sử.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1244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Hình 1. Chuẩn hóa và chọn mô hình sử dụng train/validation của từng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40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Nguồn: báo cáo 2.1–2.2. PPG-DaLiA: https://archive.ics.uci.edu/dataset/495/ppg+dalia . Mỗi fold có cùng 64.697 ứng viên trước lọc.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9789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Nguồn: báo cáo Hình 2 và Bảng 4. Nhóm G1–G5 lần lượt chứa S1–S3, S4–S6, S7–S9, S10–S12, S13–S15.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6159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2.2. Margin biên lọc 128 mẫu, 30 cửa sổ loại trong mỗi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15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Hình 4. Latent 16 chiều, tổng 366.625 tham số, decoder 84.081 tham số.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0414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3.2. Không ghép các cửa sổ độc lập thành một bản ghi liên tục.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518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3.3 và 4.1. HR loss áp dụng cho tái tạo posterior, lambda_prior = 0. Early stopping patience 12 sau warmup.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508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Hình 5. Minh họa cVAE fold 1 seed 42, các thành phần loss có thang đo khác nhau.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250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3.4 và 4.4. Gaussian là đối chuẩn hai thành phần, không phải tái lập toàn bộ PPGSynth.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140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Nguồn: báo cáo 4.3. Trung bình seed trong fold, sau đó trung bình đều 5 fold. Mẫu không đo được giữ trong mẫu số V và A3.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072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Bảng 8, results/summary. Trung bình đều 3 target: cVAE 20,15 bpm, Gaussian 3,32 bpm. Kết quả là số đo thực nghiệm, tách biệt mục tiêu thiết kế ≤3 bpm.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9277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5.2. Giá trị làm tròn hai chữ số. A3 giữ toàn bộ cửa sổ trong mẫu số.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656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Hình 12 và mục 5.6. Posterior mean z=</a:t>
            </a:r>
            <a:r>
              <a:rPr lang="el-GR"/>
              <a:t>μ, </a:t>
            </a:r>
            <a:r>
              <a:rPr lang="en-US"/>
              <a:t>cùng thống kê chuẩn hóa train. Đây là phép tái tạo, khác phép sinh từ prior.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933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Hình 11. Cột trái cùng z, cột phải cùng HR 80 bpm. Fold 1 seed 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9356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5.10. Intel i5-1145G7, Windows 11, 100 warmup. P95 chỉ decoder, không bao gồm I/O và vẽ giao diện.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5480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web/index.html, web/app.js, src/ppg_cvae/web.py. Chạy scripts/start_web.ps1. Có thể bổ sung ảnh chụp giao diện theo reports/HUONG_DAN_BO_SUNG_ANH_WEB.md.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638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Nguồn: báo cáo Hình 19. Đây là biểu đồ đầu ra backend thật, không phải ảnh chụp giao diện. cVAE đo 78,4 / 88,3 / 91,4 bpm, Gaussian 60 / 80 / 120 bpm. Checkpoint fold 1 seed 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4222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Nguồn: báo cáo Chương 7. GitHub: https://github.com/PhDQuang/AIoT-PhamDangQuang_23110143 . Các hướng phát triển là đề xuất cho nghiên cứu tiếp theo.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4338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Nguồn: repository được sinh viên cung cấp. Tài liệu nền tảng: PPG-DaLiA https://archive.ics.uci.edu/dataset/495/ppg+dalia ; VAE https://arxiv.org/abs/1312.6114 ; cVAE https://proceedings.neurips.cc/paper/2015/hash/8d55a249e6baa5c06772297520da2051-Abstract.html 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01041B-C843-4930-8465-9FD0C8B7AE6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740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41500-30F9-EA47-0440-15B450ADE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1F7358-688F-B399-5D73-E3247D63ED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AE2F8-1A17-3A03-BC0A-3D3120E6A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60EE98-1CEA-73BC-62E2-626DCF67E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595AF-9330-3753-438A-1E1944851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060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A010D-8B78-3393-FE44-DBAB5CA78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31FC-5C55-7FC8-CA99-7DD59B94D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EF8B6-D591-CB53-BA98-E26E4D12B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2E8D3-3044-3F71-36AC-D97D9ADDF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11950-DF66-7391-7DD3-29A15D2F5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836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DB546-9120-AF1A-EA39-D47E6E0C7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9F4ECB-05DE-8845-F47C-3EE2D7B66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FE9E1-9CB6-DF0A-A08E-D09DE284C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CFD09-404D-1F74-1969-F3790CA6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45C6C-D1F6-5747-3CF2-1BB3ABFC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666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8C6A8-758E-D396-56E6-4B1576CDB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0B9A4-FA82-AF68-9E23-27ED4E1E37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2B0A54-13F5-B0D7-7989-53AD2E0664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4E2E7-F11E-54F0-0F27-2601C6FB7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BB1B9-12F1-F196-CDAE-1AE894228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2186C1-BC7B-8842-C832-1A19D395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453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8F6FC-8FCC-01E8-7CCF-DF53E0179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2E672-B3B1-B8B1-EE65-5132EEBB3B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DA56E-4667-0DD3-FDB9-767735E82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CA2343-D1A1-7BCA-8DBA-6959E299B4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BC48E4-F72A-32EC-7CC8-2ABF11897D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827B96-2C3E-D055-F007-F1012ACA0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F110A7-7144-69B9-8F0F-EF1E0DD96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72C63E-F999-3EE7-C2EF-B86CAA0C6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742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A811B-196E-9469-8A2A-C171C8A2B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793E76-A845-AF3A-05DB-E73CC994F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55C0DF-7ED5-2613-B265-E9C983BAA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1ABE55-5A03-0B99-3A56-B2F3C3080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844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14483F-7274-7E2F-E270-CF9256BA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43A9D0-2CB8-A90A-4237-02F810098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227AA-80DE-EBAC-F039-8020021E6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84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53F43-7397-82D8-525B-219252F4B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2F50-B345-80EA-F32E-2C3CF74C8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5F8AC0-FC7B-1EF2-51A9-56A55E2521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59BF7-16A1-03C9-40A7-DF1759A85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00D24-F507-A587-73FC-0EDD3A6E4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01F58C-29FB-FD60-7FB7-BA59BF75C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954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83D6C-8EFD-7D3D-DEF7-7C8A8A0E3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B74C38-DED8-DB05-579F-98AC0AE556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515300-DED5-ECD6-C52F-C146A3BF12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A18266-6E54-C46D-BA44-9BA744C2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127769-1253-A7FC-3CCE-9A910D46B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107E5F-24B7-A2F7-6658-03884594B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60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2FD1E-8237-7D0D-ABD8-7841DDE29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CFDA57-B435-AE12-53A0-A55CDDF5EF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98CDF-B376-6608-139F-942F48086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25CED-4186-81C7-2775-1FC2931CB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B98E06-B24F-E6F3-FB43-983CFBA6C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04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8F122A-724A-53EC-2586-BDD83E0E06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BB5D05-DC4D-A8F7-EFCE-187A2BFC2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7FCF2-2857-0335-F576-4C46613D9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E4A25-544E-FE9E-9C3E-B3AC547E0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01593-BC0C-2004-EDF0-61434A262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409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F7C4FF-2965-DB0E-5953-5608E8437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775B0B-6E7A-6A36-4B5A-B9A87084AF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813EED-2AAE-4DCC-40BA-A06BF74114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7F535A-4247-4CDB-B883-63B688F24BAB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0F634-FA0C-6E67-DA14-4EAD10753D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7F508-FA07-5A8C-5FFB-E4B48CAB1E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D0087-1160-4B24-BE86-FBB568D75C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50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7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9EDFDE-DF79-84FC-39DD-A4DEB19CF98B}"/>
              </a:ext>
            </a:extLst>
          </p:cNvPr>
          <p:cNvSpPr txBox="1"/>
          <p:nvPr/>
        </p:nvSpPr>
        <p:spPr>
          <a:xfrm>
            <a:off x="825500" y="1651000"/>
            <a:ext cx="10541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200" b="1">
                <a:solidFill>
                  <a:srgbClr val="FFFFFF"/>
                </a:solidFill>
                <a:latin typeface="Arial" panose="020B0604020202020204" pitchFamily="34" charset="0"/>
              </a:rPr>
              <a:t>Sinh tín hiệu PPG theo nhịp tim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1CDB2D-99DD-53E6-8AA1-50B784BFBF6C}"/>
              </a:ext>
            </a:extLst>
          </p:cNvPr>
          <p:cNvSpPr txBox="1"/>
          <p:nvPr/>
        </p:nvSpPr>
        <p:spPr>
          <a:xfrm>
            <a:off x="825500" y="3683000"/>
            <a:ext cx="10477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>
                <a:solidFill>
                  <a:srgbClr val="77DDD0"/>
                </a:solidFill>
                <a:latin typeface="Arial" panose="020B0604020202020204" pitchFamily="34" charset="0"/>
              </a:rPr>
              <a:t>Mạng tự mã hóa biến phân có điều kiện một chiều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863D3A-65D6-8401-575C-F7BA87B6136F}"/>
              </a:ext>
            </a:extLst>
          </p:cNvPr>
          <p:cNvSpPr txBox="1"/>
          <p:nvPr/>
        </p:nvSpPr>
        <p:spPr>
          <a:xfrm>
            <a:off x="825500" y="4953000"/>
            <a:ext cx="10477500" cy="113877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>
                <a:solidFill>
                  <a:srgbClr val="E1ECF5"/>
                </a:solidFill>
                <a:latin typeface="Arial" panose="020B0604020202020204" pitchFamily="34" charset="0"/>
              </a:rPr>
              <a:t>Phạm Đăng Quang   •   23110143</a:t>
            </a:r>
          </a:p>
          <a:p>
            <a:pPr>
              <a:spcAft>
                <a:spcPts val="1200"/>
              </a:spcAft>
            </a:pPr>
            <a:r>
              <a:rPr lang="en-US">
                <a:solidFill>
                  <a:srgbClr val="E1ECF5"/>
                </a:solidFill>
                <a:latin typeface="Arial" panose="020B0604020202020204" pitchFamily="34" charset="0"/>
              </a:rPr>
              <a:t>Học phần Trí tuệ nhân tạo cho IoT</a:t>
            </a:r>
          </a:p>
          <a:p>
            <a:pPr>
              <a:spcAft>
                <a:spcPts val="1200"/>
              </a:spcAft>
            </a:pPr>
            <a:r>
              <a:rPr lang="en-US">
                <a:solidFill>
                  <a:srgbClr val="E1ECF5"/>
                </a:solidFill>
                <a:latin typeface="Arial" panose="020B0604020202020204" pitchFamily="34" charset="0"/>
              </a:rPr>
              <a:t>Giảng viên: ThS. Hồ Nhựt Minh</a:t>
            </a:r>
          </a:p>
        </p:txBody>
      </p:sp>
    </p:spTree>
    <p:extLst>
      <p:ext uri="{BB962C8B-B14F-4D97-AF65-F5344CB8AC3E}">
        <p14:creationId xmlns:p14="http://schemas.microsoft.com/office/powerpoint/2010/main" val="3435403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CC5A68-1DE8-96EC-566F-A017241C8EB1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Bài toán và sản phẩm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13D61F-E6D2-ABAA-D32A-B2109346452C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EA8AB-2523-B5BE-13D3-97B20C60D09F}"/>
              </a:ext>
            </a:extLst>
          </p:cNvPr>
          <p:cNvSpPr txBox="1"/>
          <p:nvPr/>
        </p:nvSpPr>
        <p:spPr>
          <a:xfrm>
            <a:off x="762000" y="17145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Sinh cửa sổ PPG mới từ nhịp tim mục tiêu và vector tiềm ẩn ngẫu nhiên.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130734-A180-669C-E716-12362385339E}"/>
              </a:ext>
            </a:extLst>
          </p:cNvPr>
          <p:cNvSpPr txBox="1"/>
          <p:nvPr/>
        </p:nvSpPr>
        <p:spPr>
          <a:xfrm>
            <a:off x="762000" y="28067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Mỗi cửa sổ dài 8 giây, gồm 512 mẫu tại 64 Hz.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56375-ECD8-A122-011D-8750CAF69991}"/>
              </a:ext>
            </a:extLst>
          </p:cNvPr>
          <p:cNvSpPr txBox="1"/>
          <p:nvPr/>
        </p:nvSpPr>
        <p:spPr>
          <a:xfrm>
            <a:off x="762000" y="3898900"/>
            <a:ext cx="10604500" cy="7078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Sản phẩm gồm bộ sinh cVAE, đối chuẩn hai Gaussian, kết quả đánh giá và web trình diễn.</a:t>
            </a:r>
          </a:p>
        </p:txBody>
      </p:sp>
    </p:spTree>
    <p:extLst>
      <p:ext uri="{BB962C8B-B14F-4D97-AF65-F5344CB8AC3E}">
        <p14:creationId xmlns:p14="http://schemas.microsoft.com/office/powerpoint/2010/main" val="271395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D61BC8-6431-647A-B93F-F1BBFE4B5C62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Quy trình thực hiện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612754-C5A0-0F78-219E-EB22FD4CAC53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5E8E60-5C6E-8323-174D-B539EF257C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407" y="1460500"/>
            <a:ext cx="9721186" cy="4127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AABA5A-E3D6-6D13-8746-E9231ED31836}"/>
              </a:ext>
            </a:extLst>
          </p:cNvPr>
          <p:cNvSpPr txBox="1"/>
          <p:nvPr/>
        </p:nvSpPr>
        <p:spPr>
          <a:xfrm>
            <a:off x="698500" y="5740400"/>
            <a:ext cx="10795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700">
                <a:solidFill>
                  <a:srgbClr val="485767"/>
                </a:solidFill>
                <a:latin typeface="Arial" panose="020B0604020202020204" pitchFamily="34" charset="0"/>
              </a:rPr>
              <a:t>Từ dữ liệu thực đến mô hình tạo sinh và đánh giá theo nhịp tim.</a:t>
            </a:r>
          </a:p>
        </p:txBody>
      </p:sp>
    </p:spTree>
    <p:extLst>
      <p:ext uri="{BB962C8B-B14F-4D97-AF65-F5344CB8AC3E}">
        <p14:creationId xmlns:p14="http://schemas.microsoft.com/office/powerpoint/2010/main" val="4217881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07E070-969A-BEAF-5E42-2F60B1371BD2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Tập dữ liệu PPG-DaLiA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CA415-4FC7-7CA7-456D-6AC79B3994CA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E392EC-C160-06FB-3880-FF56A2A089C9}"/>
              </a:ext>
            </a:extLst>
          </p:cNvPr>
          <p:cNvSpPr txBox="1"/>
          <p:nvPr/>
        </p:nvSpPr>
        <p:spPr>
          <a:xfrm>
            <a:off x="762000" y="17145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2300">
                <a:solidFill>
                  <a:srgbClr val="485767"/>
                </a:solidFill>
                <a:latin typeface="Arial" panose="020B0604020202020204" pitchFamily="34" charset="0"/>
              </a:rPr>
              <a:t>15 người tham gia với dữ liệu sinh hoạt hằng ngày.</a:t>
            </a:r>
            <a:endParaRPr lang="en-US" sz="23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FF5A43-BD9F-9EE8-8339-2487F23F89A7}"/>
              </a:ext>
            </a:extLst>
          </p:cNvPr>
          <p:cNvSpPr txBox="1"/>
          <p:nvPr/>
        </p:nvSpPr>
        <p:spPr>
          <a:xfrm>
            <a:off x="762000" y="2806700"/>
            <a:ext cx="10604500" cy="7078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2300">
                <a:solidFill>
                  <a:srgbClr val="485767"/>
                </a:solidFill>
                <a:latin typeface="Arial" panose="020B0604020202020204" pitchFamily="34" charset="0"/>
              </a:rPr>
              <a:t>BVP cổ tay 64 Hz là tín hiệu đầu vào. HR tham chiếu được xây dựng từ ECG ngực.</a:t>
            </a:r>
            <a:endParaRPr lang="en-US" sz="23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5E8240-83B2-74F0-F1F7-B15A97F450BA}"/>
              </a:ext>
            </a:extLst>
          </p:cNvPr>
          <p:cNvSpPr txBox="1"/>
          <p:nvPr/>
        </p:nvSpPr>
        <p:spPr>
          <a:xfrm>
            <a:off x="762000" y="38989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2300">
                <a:solidFill>
                  <a:srgbClr val="485767"/>
                </a:solidFill>
                <a:latin typeface="Arial" panose="020B0604020202020204" pitchFamily="34" charset="0"/>
              </a:rPr>
              <a:t>Cửa sổ 8 giây, bước trượt 2 giây. Mỗi fold giữ 64.667 cửa sổ hợp lệ.</a:t>
            </a:r>
            <a:endParaRPr lang="en-US" sz="23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725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0BFA69-10B8-E2FE-74FD-9E5CE3C662B5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3200" b="1">
                <a:solidFill>
                  <a:srgbClr val="11273C"/>
                </a:solidFill>
                <a:latin typeface="Arial" panose="020B0604020202020204" pitchFamily="34" charset="0"/>
              </a:rPr>
              <a:t>Chia dữ liệu theo người</a:t>
            </a:r>
            <a:endParaRPr lang="en-US" sz="3200" b="1">
              <a:solidFill>
                <a:srgbClr val="11273C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E1401F-935A-DCAE-8A32-51DA4B5AFD76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A421D-F863-7825-A404-1CF91CDE42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43" y="1460500"/>
            <a:ext cx="8927715" cy="4127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EFD962-3B93-A07E-0461-C7813A40308E}"/>
              </a:ext>
            </a:extLst>
          </p:cNvPr>
          <p:cNvSpPr txBox="1"/>
          <p:nvPr/>
        </p:nvSpPr>
        <p:spPr>
          <a:xfrm>
            <a:off x="698500" y="5740400"/>
            <a:ext cx="107950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1700">
                <a:solidFill>
                  <a:srgbClr val="485767"/>
                </a:solidFill>
                <a:latin typeface="Arial" panose="020B0604020202020204" pitchFamily="34" charset="0"/>
              </a:rPr>
              <a:t>5 fold với 9 người train, 3 người validation và 3 người test.</a:t>
            </a:r>
          </a:p>
          <a:p>
            <a:pPr>
              <a:spcAft>
                <a:spcPts val="1200"/>
              </a:spcAft>
            </a:pPr>
            <a:r>
              <a:rPr lang="vi-VN" sz="1700">
                <a:solidFill>
                  <a:srgbClr val="485767"/>
                </a:solidFill>
                <a:latin typeface="Arial" panose="020B0604020202020204" pitchFamily="34" charset="0"/>
              </a:rPr>
              <a:t>Mỗi fold có normalization, bộ đo HR và checkpoint riêng.</a:t>
            </a:r>
            <a:endParaRPr lang="en-US" sz="17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206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48822F-EF08-3D52-950D-24341A4C63DC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Tiền xử lý tín hiệu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D8CE09-5D53-8578-4CAF-317FCF4C0F7B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96CC98-31D8-2BDF-3A3D-E4D3A0498EB5}"/>
              </a:ext>
            </a:extLst>
          </p:cNvPr>
          <p:cNvSpPr txBox="1"/>
          <p:nvPr/>
        </p:nvSpPr>
        <p:spPr>
          <a:xfrm>
            <a:off x="762000" y="17145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Căn cửa sổ PPG với nhãn HR tham chiếu.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24BC9A-ED05-70FC-B334-D3DC76129A7C}"/>
              </a:ext>
            </a:extLst>
          </p:cNvPr>
          <p:cNvSpPr txBox="1"/>
          <p:nvPr/>
        </p:nvSpPr>
        <p:spPr>
          <a:xfrm>
            <a:off x="762000" y="28067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Lọc Butterworth bậc 4 trong dải 0,5–8 Hz, xử lý riêng từng đoạn hữu hạn.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41009D-0BE3-A33B-A431-0282DD5B8CCD}"/>
              </a:ext>
            </a:extLst>
          </p:cNvPr>
          <p:cNvSpPr txBox="1"/>
          <p:nvPr/>
        </p:nvSpPr>
        <p:spPr>
          <a:xfrm>
            <a:off x="762000" y="38989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Kiểm tra biên lọc, dữ liệu thiếu và tín hiệu hằng.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75348D-88B1-37FB-16E9-89DE9EFD439B}"/>
              </a:ext>
            </a:extLst>
          </p:cNvPr>
          <p:cNvSpPr txBox="1"/>
          <p:nvPr/>
        </p:nvSpPr>
        <p:spPr>
          <a:xfrm>
            <a:off x="762000" y="49911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Chuẩn hóa theo thống kê train. Validation và test dùng cùng thống kê.</a:t>
            </a:r>
          </a:p>
        </p:txBody>
      </p:sp>
    </p:spTree>
    <p:extLst>
      <p:ext uri="{BB962C8B-B14F-4D97-AF65-F5344CB8AC3E}">
        <p14:creationId xmlns:p14="http://schemas.microsoft.com/office/powerpoint/2010/main" val="51886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C82590-120D-93DE-410A-AE00C96F9C6C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Kiến trúc 1D-cVAE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143CC6-87CC-7498-CB08-F4754E778977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3CF7E9-DA21-216B-3E34-7D05C4FE3E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016" y="1460501"/>
            <a:ext cx="7913967" cy="4127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FCC76E-A039-88E0-F6FA-06ECD8E30489}"/>
              </a:ext>
            </a:extLst>
          </p:cNvPr>
          <p:cNvSpPr txBox="1"/>
          <p:nvPr/>
        </p:nvSpPr>
        <p:spPr>
          <a:xfrm>
            <a:off x="698500" y="5740400"/>
            <a:ext cx="10795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700">
                <a:solidFill>
                  <a:srgbClr val="485767"/>
                </a:solidFill>
                <a:latin typeface="Arial" panose="020B0604020202020204" pitchFamily="34" charset="0"/>
              </a:rPr>
              <a:t>Encoder học phân phối tiềm ẩn. Decoder sinh 512 mẫu từ z và điều kiện c = HR/60.</a:t>
            </a:r>
          </a:p>
        </p:txBody>
      </p:sp>
    </p:spTree>
    <p:extLst>
      <p:ext uri="{BB962C8B-B14F-4D97-AF65-F5344CB8AC3E}">
        <p14:creationId xmlns:p14="http://schemas.microsoft.com/office/powerpoint/2010/main" val="2786739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330E96-79D2-46F2-ADEC-23AE7E59BD78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Hai chế độ của mô hình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7B2DA9-4805-4F3C-549C-A79BB21CBBFE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8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CD637B1-7825-CE11-C8AE-317E6B23D9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651752"/>
              </p:ext>
            </p:extLst>
          </p:nvPr>
        </p:nvGraphicFramePr>
        <p:xfrm>
          <a:off x="698500" y="1587500"/>
          <a:ext cx="10795000" cy="285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8333">
                  <a:extLst>
                    <a:ext uri="{9D8B030D-6E8A-4147-A177-3AD203B41FA5}">
                      <a16:colId xmlns:a16="http://schemas.microsoft.com/office/drawing/2014/main" val="1458368332"/>
                    </a:ext>
                  </a:extLst>
                </a:gridCol>
                <a:gridCol w="3598333">
                  <a:extLst>
                    <a:ext uri="{9D8B030D-6E8A-4147-A177-3AD203B41FA5}">
                      <a16:colId xmlns:a16="http://schemas.microsoft.com/office/drawing/2014/main" val="1911609076"/>
                    </a:ext>
                  </a:extLst>
                </a:gridCol>
                <a:gridCol w="3598333">
                  <a:extLst>
                    <a:ext uri="{9D8B030D-6E8A-4147-A177-3AD203B41FA5}">
                      <a16:colId xmlns:a16="http://schemas.microsoft.com/office/drawing/2014/main" val="65778958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Thuộc tính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Tái tạo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Sinh tự do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95575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Đầu vào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PPG thật và HR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HR và seed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04843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Vector z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Posterior mean </a:t>
                      </a:r>
                      <a:r>
                        <a:rPr lang="el-GR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μ</a:t>
                      </a:r>
                      <a:endParaRPr lang="en-US" sz="1800">
                        <a:solidFill>
                          <a:srgbClr val="11273C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Phân phối N(0,I)</a:t>
                      </a:r>
                      <a:endParaRPr lang="en-US" sz="1800">
                        <a:solidFill>
                          <a:srgbClr val="11273C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00288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Đánh giá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RMSE ghép cặp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MAE HR, V, A₃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1027476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Mục đích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Biểu diễn cửa sổ thật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Tạo cửa sổ PPG mới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746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65D43EC-BF08-EA29-3512-C76EF120C93F}"/>
              </a:ext>
            </a:extLst>
          </p:cNvPr>
          <p:cNvSpPr txBox="1"/>
          <p:nvPr/>
        </p:nvSpPr>
        <p:spPr>
          <a:xfrm>
            <a:off x="698500" y="4699000"/>
            <a:ext cx="10795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900">
                <a:solidFill>
                  <a:srgbClr val="485767"/>
                </a:solidFill>
                <a:latin typeface="Arial" panose="020B0604020202020204" pitchFamily="34" charset="0"/>
              </a:rPr>
              <a:t>Web sử dụng decoder ở chế độ sinh tự do.</a:t>
            </a:r>
          </a:p>
        </p:txBody>
      </p:sp>
    </p:spTree>
    <p:extLst>
      <p:ext uri="{BB962C8B-B14F-4D97-AF65-F5344CB8AC3E}">
        <p14:creationId xmlns:p14="http://schemas.microsoft.com/office/powerpoint/2010/main" val="4075687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08D90EA-D31C-267B-E741-22AE4CF01E48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Huấn luyện và ràng buộc HR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6A4A60-A75F-9650-C8DA-FE7DAB19893E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9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3B542-A163-095D-16B8-0F2DF884CC69}"/>
              </a:ext>
            </a:extLst>
          </p:cNvPr>
          <p:cNvSpPr txBox="1"/>
          <p:nvPr/>
        </p:nvSpPr>
        <p:spPr>
          <a:xfrm>
            <a:off x="762000" y="17145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Hàm mất mát: L = Lrec + </a:t>
            </a:r>
            <a:r>
              <a:rPr lang="el-GR" sz="2300">
                <a:solidFill>
                  <a:srgbClr val="485767"/>
                </a:solidFill>
                <a:latin typeface="Arial" panose="020B0604020202020204" pitchFamily="34" charset="0"/>
              </a:rPr>
              <a:t>β</a:t>
            </a: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LKL + </a:t>
            </a:r>
            <a:r>
              <a:rPr lang="el-GR" sz="2300">
                <a:solidFill>
                  <a:srgbClr val="485767"/>
                </a:solidFill>
                <a:latin typeface="Arial" panose="020B0604020202020204" pitchFamily="34" charset="0"/>
              </a:rPr>
              <a:t>λ</a:t>
            </a: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HR LHR.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3C3F2-71EE-F996-6FC9-215D93202F39}"/>
              </a:ext>
            </a:extLst>
          </p:cNvPr>
          <p:cNvSpPr txBox="1"/>
          <p:nvPr/>
        </p:nvSpPr>
        <p:spPr>
          <a:xfrm>
            <a:off x="762000" y="28067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2300">
                <a:solidFill>
                  <a:srgbClr val="485767"/>
                </a:solidFill>
                <a:latin typeface="Arial" panose="020B0604020202020204" pitchFamily="34" charset="0"/>
              </a:rPr>
              <a:t>Mạng HR phụ trợ được cố định trọng số khi huấn luyện cVAE.</a:t>
            </a:r>
            <a:endParaRPr lang="en-US" sz="23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57E916-6179-5729-0E6B-6BF9AA4E5EAC}"/>
              </a:ext>
            </a:extLst>
          </p:cNvPr>
          <p:cNvSpPr txBox="1"/>
          <p:nvPr/>
        </p:nvSpPr>
        <p:spPr>
          <a:xfrm>
            <a:off x="762000" y="38989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Adam, learning rate 10⁻³, batch size 128, tối đa 100 epoch.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731BE3-F4D9-0321-697E-210B4775362D}"/>
              </a:ext>
            </a:extLst>
          </p:cNvPr>
          <p:cNvSpPr txBox="1"/>
          <p:nvPr/>
        </p:nvSpPr>
        <p:spPr>
          <a:xfrm>
            <a:off x="762000" y="49911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2300">
                <a:solidFill>
                  <a:srgbClr val="485767"/>
                </a:solidFill>
                <a:latin typeface="Arial" panose="020B0604020202020204" pitchFamily="34" charset="0"/>
              </a:rPr>
              <a:t>Chọn checkpoint theo validation. Mô hình cơ sở chạy seed 42, 43 và 44.</a:t>
            </a:r>
            <a:endParaRPr lang="en-US" sz="23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59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57CDFF-CF15-BD99-4BB6-F8DF6A0F814F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Diễn biến huấn luyện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76D273-365E-9A1F-FE26-37309D919B82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62F713-AAC0-EF18-7A87-080A9140BF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1709478"/>
            <a:ext cx="10795000" cy="36295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684538-C983-FC40-5BF6-44DDDDE8829B}"/>
              </a:ext>
            </a:extLst>
          </p:cNvPr>
          <p:cNvSpPr txBox="1"/>
          <p:nvPr/>
        </p:nvSpPr>
        <p:spPr>
          <a:xfrm>
            <a:off x="698500" y="5740400"/>
            <a:ext cx="10795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700">
                <a:solidFill>
                  <a:srgbClr val="485767"/>
                </a:solidFill>
                <a:latin typeface="Arial" panose="020B0604020202020204" pitchFamily="34" charset="0"/>
              </a:rPr>
              <a:t>Theo dõi riêng sai số tái tạo, KL và HR loss trên train và validation.</a:t>
            </a:r>
          </a:p>
        </p:txBody>
      </p:sp>
    </p:spTree>
    <p:extLst>
      <p:ext uri="{BB962C8B-B14F-4D97-AF65-F5344CB8AC3E}">
        <p14:creationId xmlns:p14="http://schemas.microsoft.com/office/powerpoint/2010/main" val="404286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FE9875-E7A7-1C0F-CEB1-4D823E5A9CF3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Đối chuẩn và thiết kế đánh giá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791690-A01E-EAE8-8FE8-0D34E841111C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58446E-EA16-9505-C3C4-D2E4B58E3CB3}"/>
              </a:ext>
            </a:extLst>
          </p:cNvPr>
          <p:cNvSpPr txBox="1"/>
          <p:nvPr/>
        </p:nvSpPr>
        <p:spPr>
          <a:xfrm>
            <a:off x="762000" y="17145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Hai Gaussian đặt chu kỳ theo HR và lấy tham số hình thái từ dữ liệu train.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02178A-1484-CDC2-F7CD-4E4F207573A4}"/>
              </a:ext>
            </a:extLst>
          </p:cNvPr>
          <p:cNvSpPr txBox="1"/>
          <p:nvPr/>
        </p:nvSpPr>
        <p:spPr>
          <a:xfrm>
            <a:off x="762000" y="28067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1.000 cửa sổ tại mỗi HR 60, 80 và 120 bpm trong mỗi run.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791EB-C72E-951D-56AA-2EFC7886DD1E}"/>
              </a:ext>
            </a:extLst>
          </p:cNvPr>
          <p:cNvSpPr txBox="1"/>
          <p:nvPr/>
        </p:nvSpPr>
        <p:spPr>
          <a:xfrm>
            <a:off x="762000" y="38989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5 fold, 3 seed cho cVAE và Gaussian. Hai ablation sử dụng seed 42.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8DE0A-95E0-9099-906F-F2C4FDBADC53}"/>
              </a:ext>
            </a:extLst>
          </p:cNvPr>
          <p:cNvSpPr txBox="1"/>
          <p:nvPr/>
        </p:nvSpPr>
        <p:spPr>
          <a:xfrm>
            <a:off x="762000" y="49911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40 run, tổng 120.000 cửa sổ sinh.</a:t>
            </a:r>
          </a:p>
        </p:txBody>
      </p:sp>
    </p:spTree>
    <p:extLst>
      <p:ext uri="{BB962C8B-B14F-4D97-AF65-F5344CB8AC3E}">
        <p14:creationId xmlns:p14="http://schemas.microsoft.com/office/powerpoint/2010/main" val="1528326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B9F57F-4F7F-D936-4E17-25957E98D45F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Chỉ số đánh giá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9D22A6-7B3C-D238-7640-5791EBA3BEB0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12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5D76416-0C2E-C1BE-C138-815B39EBE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824171"/>
              </p:ext>
            </p:extLst>
          </p:nvPr>
        </p:nvGraphicFramePr>
        <p:xfrm>
          <a:off x="698500" y="1587500"/>
          <a:ext cx="107950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7500">
                  <a:extLst>
                    <a:ext uri="{9D8B030D-6E8A-4147-A177-3AD203B41FA5}">
                      <a16:colId xmlns:a16="http://schemas.microsoft.com/office/drawing/2014/main" val="2752793812"/>
                    </a:ext>
                  </a:extLst>
                </a:gridCol>
                <a:gridCol w="5397500">
                  <a:extLst>
                    <a:ext uri="{9D8B030D-6E8A-4147-A177-3AD203B41FA5}">
                      <a16:colId xmlns:a16="http://schemas.microsoft.com/office/drawing/2014/main" val="264473275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Chỉ số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Ý nghĩa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493062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MAE HR (bpm)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vi-VN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Sai lệch HR trung bình trên cửa sổ đo được</a:t>
                      </a:r>
                      <a:endParaRPr lang="en-US" sz="1800">
                        <a:solidFill>
                          <a:srgbClr val="11273C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214412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V (%)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vi-VN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Tỷ lệ cửa sổ đo được HR</a:t>
                      </a:r>
                      <a:endParaRPr lang="en-US" sz="1800">
                        <a:solidFill>
                          <a:srgbClr val="11273C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8125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A₃ (%)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Tỷ lệ toàn bộ cửa sổ có sai lệch ≤ 3 bpm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21464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vi-VN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RMSE (đơn vị Z)</a:t>
                      </a:r>
                      <a:endParaRPr lang="en-US" sz="1800">
                        <a:solidFill>
                          <a:srgbClr val="11273C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Sai số tái tạo từng điểm trên cặp PPG thật–tái tạo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1129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Hình thái và đa dạng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Độ rộng xung, thời gian lên đỉnh, phân tán nhịp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74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325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58D6E5-73B5-82C2-EDA1-2E5EE0F997E8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Kết quả sai số nhịp tim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32188E-8F55-91D5-FDC0-33BCFFC3267D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13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FAD6F1-40D4-5721-FA53-E25EE1163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571978"/>
              </p:ext>
            </p:extLst>
          </p:nvPr>
        </p:nvGraphicFramePr>
        <p:xfrm>
          <a:off x="698500" y="1587500"/>
          <a:ext cx="10795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8333">
                  <a:extLst>
                    <a:ext uri="{9D8B030D-6E8A-4147-A177-3AD203B41FA5}">
                      <a16:colId xmlns:a16="http://schemas.microsoft.com/office/drawing/2014/main" val="1698267028"/>
                    </a:ext>
                  </a:extLst>
                </a:gridCol>
                <a:gridCol w="3598333">
                  <a:extLst>
                    <a:ext uri="{9D8B030D-6E8A-4147-A177-3AD203B41FA5}">
                      <a16:colId xmlns:a16="http://schemas.microsoft.com/office/drawing/2014/main" val="1283416471"/>
                    </a:ext>
                  </a:extLst>
                </a:gridCol>
                <a:gridCol w="3598333">
                  <a:extLst>
                    <a:ext uri="{9D8B030D-6E8A-4147-A177-3AD203B41FA5}">
                      <a16:colId xmlns:a16="http://schemas.microsoft.com/office/drawing/2014/main" val="1849162870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HR mục tiêu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cVAE MAE ± SD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Gaussian MAE ± SD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332736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60 bpm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17,88 ± 4,59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7,07 ± 2,94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20473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80 bpm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8,47 ± 1,58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2,90 ± 0,99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875108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120 bpm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34,09 ± 4,36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0,00 ± 0,00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8105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6DD812E-0C8B-E04A-CE69-D21455919237}"/>
              </a:ext>
            </a:extLst>
          </p:cNvPr>
          <p:cNvSpPr txBox="1"/>
          <p:nvPr/>
        </p:nvSpPr>
        <p:spPr>
          <a:xfrm>
            <a:off x="698500" y="4127500"/>
            <a:ext cx="1079500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1900">
                <a:solidFill>
                  <a:srgbClr val="485767"/>
                </a:solidFill>
                <a:latin typeface="Arial" panose="020B0604020202020204" pitchFamily="34" charset="0"/>
              </a:rPr>
              <a:t>cVAE có sai số thấp nhất tại 80 bpm trong ba điều kiện khảo sát.</a:t>
            </a:r>
          </a:p>
          <a:p>
            <a:pPr>
              <a:spcAft>
                <a:spcPts val="1200"/>
              </a:spcAft>
            </a:pPr>
            <a:r>
              <a:rPr lang="vi-VN" sz="1900">
                <a:solidFill>
                  <a:srgbClr val="485767"/>
                </a:solidFill>
                <a:latin typeface="Arial" panose="020B0604020202020204" pitchFamily="34" charset="0"/>
              </a:rPr>
              <a:t>Đơn vị bpm. SD mô tả biến thiên giữa năm fold.</a:t>
            </a:r>
            <a:endParaRPr lang="en-US" sz="19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212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D810F2-87A9-FCBA-55CF-66C3AA136AC9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3200" b="1">
                <a:solidFill>
                  <a:srgbClr val="11273C"/>
                </a:solidFill>
                <a:latin typeface="Arial" panose="020B0604020202020204" pitchFamily="34" charset="0"/>
              </a:rPr>
              <a:t>Tỷ lệ đo được và sai lệch trong 3 bpm</a:t>
            </a:r>
            <a:endParaRPr lang="en-US" sz="3200" b="1">
              <a:solidFill>
                <a:srgbClr val="11273C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F131D-B3E7-CBB0-E108-869A4094E224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14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A03F2F7-6CC1-2BD4-4576-08131BAB5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382955"/>
              </p:ext>
            </p:extLst>
          </p:nvPr>
        </p:nvGraphicFramePr>
        <p:xfrm>
          <a:off x="698500" y="1587500"/>
          <a:ext cx="10795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8750">
                  <a:extLst>
                    <a:ext uri="{9D8B030D-6E8A-4147-A177-3AD203B41FA5}">
                      <a16:colId xmlns:a16="http://schemas.microsoft.com/office/drawing/2014/main" val="3452206427"/>
                    </a:ext>
                  </a:extLst>
                </a:gridCol>
                <a:gridCol w="2698750">
                  <a:extLst>
                    <a:ext uri="{9D8B030D-6E8A-4147-A177-3AD203B41FA5}">
                      <a16:colId xmlns:a16="http://schemas.microsoft.com/office/drawing/2014/main" val="366672558"/>
                    </a:ext>
                  </a:extLst>
                </a:gridCol>
                <a:gridCol w="2698750">
                  <a:extLst>
                    <a:ext uri="{9D8B030D-6E8A-4147-A177-3AD203B41FA5}">
                      <a16:colId xmlns:a16="http://schemas.microsoft.com/office/drawing/2014/main" val="645480831"/>
                    </a:ext>
                  </a:extLst>
                </a:gridCol>
                <a:gridCol w="2698750">
                  <a:extLst>
                    <a:ext uri="{9D8B030D-6E8A-4147-A177-3AD203B41FA5}">
                      <a16:colId xmlns:a16="http://schemas.microsoft.com/office/drawing/2014/main" val="322404146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HR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 cVAE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A₃ cVAE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A₃ Gaussian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433365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100,00%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5,53%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88,09%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2706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80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99,99%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21,15%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95,30%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72285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120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100,00%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1,95%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99,39%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57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9DE5E89-D7C4-0028-397A-50683C04913E}"/>
              </a:ext>
            </a:extLst>
          </p:cNvPr>
          <p:cNvSpPr txBox="1"/>
          <p:nvPr/>
        </p:nvSpPr>
        <p:spPr>
          <a:xfrm>
            <a:off x="698500" y="4127500"/>
            <a:ext cx="10795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900">
                <a:solidFill>
                  <a:srgbClr val="485767"/>
                </a:solidFill>
                <a:latin typeface="Arial" panose="020B0604020202020204" pitchFamily="34" charset="0"/>
              </a:rPr>
              <a:t>V và A₃ mô tả hai thuộc tính riêng: khả năng đo và độ gần HR mục tiêu.</a:t>
            </a:r>
          </a:p>
        </p:txBody>
      </p:sp>
    </p:spTree>
    <p:extLst>
      <p:ext uri="{BB962C8B-B14F-4D97-AF65-F5344CB8AC3E}">
        <p14:creationId xmlns:p14="http://schemas.microsoft.com/office/powerpoint/2010/main" val="2027973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054424-E5DC-3D2B-8A9A-9E2F784F8E1D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Tái tạo tín hiệu PPG thực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9884DB-E5A9-8D97-0DED-FD4670BFD8B0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8B7DFE-EDEF-7C99-ADE6-4B96094642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279" y="1460500"/>
            <a:ext cx="8357441" cy="4127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1F86C8-1C97-CB0C-B8F4-F4012A1084BF}"/>
              </a:ext>
            </a:extLst>
          </p:cNvPr>
          <p:cNvSpPr txBox="1"/>
          <p:nvPr/>
        </p:nvSpPr>
        <p:spPr>
          <a:xfrm>
            <a:off x="698500" y="5740400"/>
            <a:ext cx="10795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1700">
                <a:solidFill>
                  <a:srgbClr val="485767"/>
                </a:solidFill>
                <a:latin typeface="Arial" panose="020B0604020202020204" pitchFamily="34" charset="0"/>
              </a:rPr>
              <a:t>Ba cửa sổ test đầu tiên của fold 1 seed 42. RMSE trung bình qua 5 fold: 0,527 đơn vị Z.</a:t>
            </a:r>
            <a:endParaRPr lang="en-US" sz="17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24511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A846CC-1EFF-567C-646D-F909D6AF5E4A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Biến thiên hình dạng tín hiệu sinh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73B02-9621-C7BB-2AC4-2667A8B47502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8E9157-B82E-2D74-2319-C7E2D4B5F3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6247" y="1460500"/>
            <a:ext cx="7579506" cy="4127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DA403A-4C4E-14E2-E254-73A70C9517A4}"/>
              </a:ext>
            </a:extLst>
          </p:cNvPr>
          <p:cNvSpPr txBox="1"/>
          <p:nvPr/>
        </p:nvSpPr>
        <p:spPr>
          <a:xfrm>
            <a:off x="698500" y="5740400"/>
            <a:ext cx="10795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700">
                <a:solidFill>
                  <a:srgbClr val="485767"/>
                </a:solidFill>
                <a:latin typeface="Arial" panose="020B0604020202020204" pitchFamily="34" charset="0"/>
              </a:rPr>
              <a:t>Giữ z và đổi HR để khảo sát điều kiện. Giữ HR và đổi z để khảo sát biến thiên dạng sóng.</a:t>
            </a:r>
          </a:p>
        </p:txBody>
      </p:sp>
    </p:spTree>
    <p:extLst>
      <p:ext uri="{BB962C8B-B14F-4D97-AF65-F5344CB8AC3E}">
        <p14:creationId xmlns:p14="http://schemas.microsoft.com/office/powerpoint/2010/main" val="9802504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F0E955-DC59-9836-2E23-10AAA5DB09AA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Triển khai decoder trên CPU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4A8EF0-C582-E64A-5F6C-EAB62B412836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17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89818AE-5431-4F7C-CB78-FFB4006D20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4077"/>
              </p:ext>
            </p:extLst>
          </p:nvPr>
        </p:nvGraphicFramePr>
        <p:xfrm>
          <a:off x="698500" y="1587500"/>
          <a:ext cx="107950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7500">
                  <a:extLst>
                    <a:ext uri="{9D8B030D-6E8A-4147-A177-3AD203B41FA5}">
                      <a16:colId xmlns:a16="http://schemas.microsoft.com/office/drawing/2014/main" val="3356684136"/>
                    </a:ext>
                  </a:extLst>
                </a:gridCol>
                <a:gridCol w="5397500">
                  <a:extLst>
                    <a:ext uri="{9D8B030D-6E8A-4147-A177-3AD203B41FA5}">
                      <a16:colId xmlns:a16="http://schemas.microsoft.com/office/drawing/2014/main" val="3946608386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Thuộc tính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Kết quả</a:t>
                      </a:r>
                    </a:p>
                  </a:txBody>
                  <a:tcPr marL="152400" marR="127000" marT="101600" marB="63500" anchor="ctr">
                    <a:solidFill>
                      <a:srgbClr val="1127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89798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Tổng tham số cVAE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366.625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127078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Tham số decoder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84.081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67123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Tệp decoder FP32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0,340 MB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466554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P95 decoder trên máy thử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0,831–1,480 ms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760586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Cấu hình đo</a:t>
                      </a: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vi-VN" sz="1800">
                          <a:solidFill>
                            <a:srgbClr val="11273C"/>
                          </a:solidFill>
                          <a:latin typeface="Arial" panose="020B0604020202020204" pitchFamily="34" charset="0"/>
                        </a:rPr>
                        <a:t>CPU một luồng, batch 1, 1.000 lượt đo</a:t>
                      </a:r>
                      <a:endParaRPr lang="en-US" sz="1800">
                        <a:solidFill>
                          <a:srgbClr val="11273C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52400" marR="127000" marT="101600" marB="63500" anchor="ctr">
                    <a:solidFill>
                      <a:srgbClr val="F0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73457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0E52E52-7C78-504F-BBF0-E647C0507678}"/>
              </a:ext>
            </a:extLst>
          </p:cNvPr>
          <p:cNvSpPr txBox="1"/>
          <p:nvPr/>
        </p:nvSpPr>
        <p:spPr>
          <a:xfrm>
            <a:off x="698500" y="5270500"/>
            <a:ext cx="10795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1900">
                <a:solidFill>
                  <a:srgbClr val="485767"/>
                </a:solidFill>
                <a:latin typeface="Arial" panose="020B0604020202020204" pitchFamily="34" charset="0"/>
              </a:rPr>
              <a:t>Decoder phù hợp mục tiêu kích thước và thời gian suy luận của đề cương.</a:t>
            </a:r>
            <a:endParaRPr lang="en-US" sz="19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960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C30AAE-8CC3-D144-885C-CD1D383442D0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Web demo PPG Studio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758EAF-FD94-D39F-897E-BA692F7A854B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A4CD45-9077-3215-1618-CA1BD19CD85A}"/>
              </a:ext>
            </a:extLst>
          </p:cNvPr>
          <p:cNvSpPr txBox="1"/>
          <p:nvPr/>
        </p:nvSpPr>
        <p:spPr>
          <a:xfrm>
            <a:off x="762000" y="17145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Chọn HR, seed và 1, 5 hoặc 20 cửa sổ.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00897A-5D75-BA9E-60A8-762F50249841}"/>
              </a:ext>
            </a:extLst>
          </p:cNvPr>
          <p:cNvSpPr txBox="1"/>
          <p:nvPr/>
        </p:nvSpPr>
        <p:spPr>
          <a:xfrm>
            <a:off x="762000" y="28067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2300">
                <a:solidFill>
                  <a:srgbClr val="485767"/>
                </a:solidFill>
                <a:latin typeface="Arial" panose="020B0604020202020204" pitchFamily="34" charset="0"/>
              </a:rPr>
              <a:t>Quan sát cVAE xanh lá và Gaussian xanh dương trên cùng trục 0–8 giây.</a:t>
            </a:r>
            <a:endParaRPr lang="en-US" sz="23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786F70-2670-FF28-4E93-E1D33BDE2C0B}"/>
              </a:ext>
            </a:extLst>
          </p:cNvPr>
          <p:cNvSpPr txBox="1"/>
          <p:nvPr/>
        </p:nvSpPr>
        <p:spPr>
          <a:xfrm>
            <a:off x="762000" y="38989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Hiển thị HR mục tiêu, HR đo độc lập, MAE, V và A₃.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F7BFAB-E239-12BC-DA48-9F3B9661F0EA}"/>
              </a:ext>
            </a:extLst>
          </p:cNvPr>
          <p:cNvSpPr txBox="1"/>
          <p:nvPr/>
        </p:nvSpPr>
        <p:spPr>
          <a:xfrm>
            <a:off x="762000" y="49911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Xuất PNG, CSV và JSON. Demo trực tiếp tại http://127.0.0.1:8000.</a:t>
            </a:r>
          </a:p>
        </p:txBody>
      </p:sp>
    </p:spTree>
    <p:extLst>
      <p:ext uri="{BB962C8B-B14F-4D97-AF65-F5344CB8AC3E}">
        <p14:creationId xmlns:p14="http://schemas.microsoft.com/office/powerpoint/2010/main" val="2595762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D63125-36C0-9150-1043-DD75CBFFD9AA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Kết quả suy luận dùng trong web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4F5FEB-C99F-C351-F68A-085ABDC661E4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19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23E068-9C4F-2897-D9A5-00A51D1ACF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062" y="1460500"/>
            <a:ext cx="5323876" cy="4127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D5BCCE-AA03-9FAE-8CA1-19916933AF6C}"/>
              </a:ext>
            </a:extLst>
          </p:cNvPr>
          <p:cNvSpPr txBox="1"/>
          <p:nvPr/>
        </p:nvSpPr>
        <p:spPr>
          <a:xfrm>
            <a:off x="698500" y="5740400"/>
            <a:ext cx="10795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700">
                <a:solidFill>
                  <a:srgbClr val="485767"/>
                </a:solidFill>
                <a:latin typeface="Arial" panose="020B0604020202020204" pitchFamily="34" charset="0"/>
              </a:rPr>
              <a:t>HR 60, 80 và 120 bpm, latent seed 42. Mỗi điều kiện tạo một cửa sổ.</a:t>
            </a:r>
          </a:p>
        </p:txBody>
      </p:sp>
    </p:spTree>
    <p:extLst>
      <p:ext uri="{BB962C8B-B14F-4D97-AF65-F5344CB8AC3E}">
        <p14:creationId xmlns:p14="http://schemas.microsoft.com/office/powerpoint/2010/main" val="34601605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89E88D-8A22-2E9B-2E42-7DBD3544C70A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3200" b="1">
                <a:solidFill>
                  <a:srgbClr val="11273C"/>
                </a:solidFill>
                <a:latin typeface="Arial" panose="020B0604020202020204" pitchFamily="34" charset="0"/>
              </a:rPr>
              <a:t>Sản phẩm và hướng phát triển</a:t>
            </a:r>
            <a:endParaRPr lang="en-US" sz="3200" b="1">
              <a:solidFill>
                <a:srgbClr val="11273C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31C7DE-464D-3C80-A6F9-40A9F597AD4F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E08C0-E5DD-EA9D-0463-0571DE1E977B}"/>
              </a:ext>
            </a:extLst>
          </p:cNvPr>
          <p:cNvSpPr txBox="1"/>
          <p:nvPr/>
        </p:nvSpPr>
        <p:spPr>
          <a:xfrm>
            <a:off x="762000" y="17145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Đã xây dựng quy trình dữ liệu, cVAE một chiều và bộ sinh hai Gaussian.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B2F753-81D5-AF01-2282-9D2B23FF555E}"/>
              </a:ext>
            </a:extLst>
          </p:cNvPr>
          <p:cNvSpPr txBox="1"/>
          <p:nvPr/>
        </p:nvSpPr>
        <p:spPr>
          <a:xfrm>
            <a:off x="762000" y="28067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2300">
                <a:solidFill>
                  <a:srgbClr val="485767"/>
                </a:solidFill>
                <a:latin typeface="Arial" panose="020B0604020202020204" pitchFamily="34" charset="0"/>
              </a:rPr>
              <a:t>Đã tổ chức đánh giá theo người, lưu checkpoint và kết quả thực nghiệm.</a:t>
            </a:r>
            <a:endParaRPr lang="en-US" sz="23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16A816-0CCB-6226-F156-76AB74368F31}"/>
              </a:ext>
            </a:extLst>
          </p:cNvPr>
          <p:cNvSpPr txBox="1"/>
          <p:nvPr/>
        </p:nvSpPr>
        <p:spPr>
          <a:xfrm>
            <a:off x="762000" y="38989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Web hỗ trợ sinh, đo nhịp và xuất kết quả trên CPU.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8F0C48-35D8-253B-515D-2F74CA1C48F9}"/>
              </a:ext>
            </a:extLst>
          </p:cNvPr>
          <p:cNvSpPr txBox="1"/>
          <p:nvPr/>
        </p:nvSpPr>
        <p:spPr>
          <a:xfrm>
            <a:off x="762000" y="4991100"/>
            <a:ext cx="10604500" cy="7078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2300">
                <a:solidFill>
                  <a:srgbClr val="485767"/>
                </a:solidFill>
                <a:latin typeface="Arial" panose="020B0604020202020204" pitchFamily="34" charset="0"/>
              </a:rPr>
              <a:t>Hướng phát triển: ràng buộc mẫu prior, mở rộng phép đo và tích hợp CPU gateway.</a:t>
            </a:r>
            <a:endParaRPr lang="en-US" sz="2300">
              <a:solidFill>
                <a:srgbClr val="485767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5847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BA68EC-AB55-3F06-DBF0-93886A063A14}"/>
              </a:ext>
            </a:extLst>
          </p:cNvPr>
          <p:cNvSpPr txBox="1"/>
          <p:nvPr/>
        </p:nvSpPr>
        <p:spPr>
          <a:xfrm>
            <a:off x="660400" y="381000"/>
            <a:ext cx="10871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rgbClr val="11273C"/>
                </a:solidFill>
                <a:latin typeface="Arial" panose="020B0604020202020204" pitchFamily="34" charset="0"/>
              </a:rPr>
              <a:t>Mã nguồn và tài liệu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22155C-7A26-5196-D35A-E21D5D58094B}"/>
              </a:ext>
            </a:extLst>
          </p:cNvPr>
          <p:cNvSpPr txBox="1"/>
          <p:nvPr/>
        </p:nvSpPr>
        <p:spPr>
          <a:xfrm>
            <a:off x="11264900" y="6464300"/>
            <a:ext cx="3175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000">
                <a:solidFill>
                  <a:srgbClr val="485767"/>
                </a:solidFill>
                <a:latin typeface="Arial" panose="020B0604020202020204" pitchFamily="34" charset="0"/>
              </a:rPr>
              <a:t>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AFA428-1646-254D-448B-AB9357EA106D}"/>
              </a:ext>
            </a:extLst>
          </p:cNvPr>
          <p:cNvSpPr txBox="1"/>
          <p:nvPr/>
        </p:nvSpPr>
        <p:spPr>
          <a:xfrm>
            <a:off x="762000" y="17145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github.com/PhDQuang/AIoT-PhamDangQuang_23110143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18DA0-EE26-682F-D6C9-75AA45BF30E3}"/>
              </a:ext>
            </a:extLst>
          </p:cNvPr>
          <p:cNvSpPr txBox="1"/>
          <p:nvPr/>
        </p:nvSpPr>
        <p:spPr>
          <a:xfrm>
            <a:off x="762000" y="28067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Notebook nguồn và bản đã thực thi: notebooks/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543A-7831-D5C2-4669-C5924716BCA8}"/>
              </a:ext>
            </a:extLst>
          </p:cNvPr>
          <p:cNvSpPr txBox="1"/>
          <p:nvPr/>
        </p:nvSpPr>
        <p:spPr>
          <a:xfrm>
            <a:off x="762000" y="38989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Khởi động demo: scripts/start_web.ps1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ADCC57-F048-8C6F-6786-4E9F21168983}"/>
              </a:ext>
            </a:extLst>
          </p:cNvPr>
          <p:cNvSpPr txBox="1"/>
          <p:nvPr/>
        </p:nvSpPr>
        <p:spPr>
          <a:xfrm>
            <a:off x="762000" y="4991100"/>
            <a:ext cx="106045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300">
                <a:solidFill>
                  <a:srgbClr val="485767"/>
                </a:solidFill>
                <a:latin typeface="Arial" panose="020B0604020202020204" pitchFamily="34" charset="0"/>
              </a:rPr>
              <a:t>Báo cáo, PowerPoint và gói mã nguồn: PhamDangQuang_final</a:t>
            </a:r>
          </a:p>
        </p:txBody>
      </p:sp>
    </p:spTree>
    <p:extLst>
      <p:ext uri="{BB962C8B-B14F-4D97-AF65-F5344CB8AC3E}">
        <p14:creationId xmlns:p14="http://schemas.microsoft.com/office/powerpoint/2010/main" val="1329941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7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8D650-DF89-AAFA-E062-6879884DE754}"/>
              </a:ext>
            </a:extLst>
          </p:cNvPr>
          <p:cNvSpPr txBox="1"/>
          <p:nvPr/>
        </p:nvSpPr>
        <p:spPr>
          <a:xfrm>
            <a:off x="825500" y="1651000"/>
            <a:ext cx="10541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vi-VN" sz="4200" b="1">
                <a:solidFill>
                  <a:srgbClr val="FFFFFF"/>
                </a:solidFill>
                <a:latin typeface="Arial" panose="020B0604020202020204" pitchFamily="34" charset="0"/>
              </a:rPr>
              <a:t>Em xin chân thành cảm ơn</a:t>
            </a:r>
            <a:endParaRPr lang="en-US" sz="42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84C968-DDCD-1A09-FA9E-9371E85330D7}"/>
              </a:ext>
            </a:extLst>
          </p:cNvPr>
          <p:cNvSpPr txBox="1"/>
          <p:nvPr/>
        </p:nvSpPr>
        <p:spPr>
          <a:xfrm>
            <a:off x="825500" y="3683000"/>
            <a:ext cx="10477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>
                <a:solidFill>
                  <a:srgbClr val="77DDD0"/>
                </a:solidFill>
                <a:latin typeface="Arial" panose="020B0604020202020204" pitchFamily="34" charset="0"/>
              </a:rPr>
              <a:t>Kính mời thầy và các bạn trao đổi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9C945E-1C8E-A295-AC44-7413B8BF2C7B}"/>
              </a:ext>
            </a:extLst>
          </p:cNvPr>
          <p:cNvSpPr txBox="1"/>
          <p:nvPr/>
        </p:nvSpPr>
        <p:spPr>
          <a:xfrm>
            <a:off x="825500" y="4953000"/>
            <a:ext cx="10477500" cy="7078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>
                <a:solidFill>
                  <a:srgbClr val="E1ECF5"/>
                </a:solidFill>
                <a:latin typeface="Arial" panose="020B0604020202020204" pitchFamily="34" charset="0"/>
              </a:rPr>
              <a:t>Phạm Đăng Quang</a:t>
            </a:r>
          </a:p>
          <a:p>
            <a:pPr>
              <a:spcAft>
                <a:spcPts val="1200"/>
              </a:spcAft>
            </a:pPr>
            <a:r>
              <a:rPr lang="en-US">
                <a:solidFill>
                  <a:srgbClr val="E1ECF5"/>
                </a:solidFill>
                <a:latin typeface="Arial" panose="020B0604020202020204" pitchFamily="34" charset="0"/>
              </a:rPr>
              <a:t>23110143</a:t>
            </a:r>
          </a:p>
        </p:txBody>
      </p:sp>
    </p:spTree>
    <p:extLst>
      <p:ext uri="{BB962C8B-B14F-4D97-AF65-F5344CB8AC3E}">
        <p14:creationId xmlns:p14="http://schemas.microsoft.com/office/powerpoint/2010/main" val="4151773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1769</Words>
  <Application>Microsoft Office PowerPoint</Application>
  <PresentationFormat>Custom</PresentationFormat>
  <Paragraphs>199</Paragraphs>
  <Slides>22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Pham Dang Quang</dc:creator>
  <cp:lastModifiedBy>Pham Dang Quang</cp:lastModifiedBy>
  <cp:revision>1</cp:revision>
  <dcterms:created xsi:type="dcterms:W3CDTF">2026-10-05T15:29:20Z</dcterms:created>
  <dcterms:modified xsi:type="dcterms:W3CDTF">2026-10-05T15:29:20Z</dcterms:modified>
</cp:coreProperties>
</file>