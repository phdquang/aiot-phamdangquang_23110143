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9297-CBFC-4239-83DA-BC875376E9F8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22E93-A396-4114-B21C-8A67817DF5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66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đề cương G2 và báo cáo, mục 1.2–1.3. Phân biệt sinh tín hiệu theo HR với dự báo từ lịch sử.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57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1. Chuẩn hóa và chọn mô hình sử dụng train/validation của từng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65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báo cáo 2.1–2.2. PPG-DaLiA: https://archive.ics.uci.edu/dataset/495/ppg+dalia . Mỗi fold có cùng 64.697 ứng viên trước lọc.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11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báo cáo Hình 2 và Bảng 4. Nhóm G1–G5 lần lượt chứa S1–S3, S4–S6, S7–S9, S10–S12, S13–S15.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61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2.2. Margin biên lọc 128 mẫu, 30 cửa sổ loại trong mỗi 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60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4. Latent 16 chiều, tổng 366.625 tham số, decoder 84.081 tham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92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3.2. Không ghép các cửa sổ độc lập thành một bản ghi liên tục.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3.3 và 4.1. HR loss áp dụng cho tái tạo posterior, lambda_prior = 0. Early stopping patience 12 sau warmup.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75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5. Minh họa cVAE fold 1 seed 42, các thành phần loss có thang đo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37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3.4 và 4.4. Gaussian là đối chuẩn hai thành phần, không phải tái lập toàn bộ PPGSynth.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44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báo cáo 4.3. Trung bình seed trong fold, sau đó trung bình đều 5 fold. Mẫu không đo được giữ trong mẫu số V và A3.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7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Bảng 8, results/summary. Trung bình đều 3 target: cVAE 20,15 bpm, Gaussian 3,32 bpm. Kết quả là số đo thực nghiệm, tách biệt mục tiêu thiết kế ≤3 bpm.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23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5.2. Giá trị làm tròn hai chữ số. A3 giữ toàn bộ cửa sổ trong mẫu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07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12 và mục 5.6. Posterior mean z=</a:t>
            </a:r>
            <a:r>
              <a:rPr lang="el-GR"/>
              <a:t>μ, </a:t>
            </a:r>
            <a:r>
              <a:rPr lang="en-US"/>
              <a:t>cùng thống kê chuẩn hóa train. Đây là phép tái tạo, khác phép sinh từ prior.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62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11. Cột trái cùng z, cột phải cùng HR 80 bpm. Fold 1 seed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14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5.10. Intel i5-1145G7, Windows 11, 100 warmup. P95 chỉ decoder, không bao gồm I/O và vẽ giao diện.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553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web/index.html, web/app.js, src/ppg_cvae/web.py. Chạy scripts/start_web.ps1. Có thể bổ sung ảnh chụp giao diện theo reports/HUONG_DAN_BO_SUNG_ANH_WEB.md. Image source: interface screenshot already inserted in the student report, figure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60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 báo cáo Hình 19. Đây là biểu đồ đầu ra backend thật, không phải ảnh chụp giao diện. cVAE đo 78,4 / 88,3 / 91,4 bpm, Gaussian 60 / 80 / 120 bpm. Checkpoint fold 1 seed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25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báo cáo Chương 7. GitHub: https://github.com/PhDQuang/AIoT-PhamDangQuang_23110143 . Các hướng phát triển là đề xuất cho nghiên cứu tiếp theo.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644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Nguồn: repository được sinh viên cung cấp. Tài liệu nền tảng: PPG-DaLiA https://archive.ics.uci.edu/dataset/495/ppg+dalia ; VAE https://arxiv.org/abs/1312.6114 ; cVAE https://proceedings.neurips.cc/paper/2015/hash/8d55a249e6baa5c06772297520da2051-Abstract.html 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22E93-A396-4114-B21C-8A67817DF5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9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A8DB-A55D-5FE3-A367-CE7A0DC68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F8558-35D7-5378-D00D-E00ED3079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EDFED-DDE0-E203-B244-08732863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3F05B-DDDF-881F-51E6-DD8BEE27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9084-836F-D070-BAD7-3DF4F32B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8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E456-F6EF-0FD9-2CE8-684129119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29962-C4DA-AD47-9398-F91E19A9A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D6481-3785-63AE-1F5F-87047F6F9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3AF7B-D7A8-458C-1796-7297426F3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9C246-FF55-C55F-AF43-F69A1498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4010-C64F-5BD0-3E94-F7A3CC71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38361-C989-AB25-16F9-C74455572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B306-5FBD-B9D6-D6BC-6089928F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D5103-97B1-CA2C-8587-34D1820F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B485D-12D7-F4CE-ABE1-BF8F97BC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6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E993-AA0F-601E-7B0A-2E6B8CDB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FAE3-C1A5-D690-17D5-120A46E6FC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A5457-2C61-B82F-2AFF-7A3DD7B9D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568B9-EC7C-3D18-0A62-1E10C413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F6EA3-4FAC-9983-E4B5-127D9656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B6F90-59E2-72CA-04D0-BAA38FFF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3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9D9B0-8186-E6F2-76C2-423CCEAB7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34314-8C19-7C60-08B9-7E5FA009C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48DC2-3214-D0D9-6D94-E5F5DDB22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8ACD6-CE37-D445-E56B-B97042A10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6371C-CEDB-CAF1-8BF3-8BC854EF8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BE73F-D99C-C5AC-3736-9C95C4BF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1468B2-269C-EC74-C707-EE2F9C0D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C1999-455F-8F89-9FB7-5568B813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9393-F008-4848-4FA9-E3FF01CE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0B87B-FF05-8620-41EC-8091AB886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21B1C-5D86-F961-16C0-F47FAA6C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9D5A0F-8BCF-A5A0-6093-9D0F71CEC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17276-5C64-2D95-2BD3-48BA0BFF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16CFC-CE0B-A494-0099-214E628C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A1B47-86BA-8FB1-59AE-A20D2459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5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F350-6F84-F5DC-0273-6062F2D1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1737-ED5A-3DEB-CDC1-2D45AE7F4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14B10-4802-3B95-1CA6-E3A07B9BC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B0876-A897-8FA4-0288-BFC54876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1B8E8-B5D8-E82A-1362-DE70D9BF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15EC9-35E8-C824-720A-00D7D015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89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5048-A8F4-AF43-6A07-CDBE1CA2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EF3C9-BC14-5604-26EA-1D42A1A0F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E2B05-4AD4-FE00-8C0D-9957161FA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AF146-693E-9E68-968A-ABB56DB1B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F93E2-E656-9286-A9C8-52046A94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41725-3174-D3CB-C8B9-4B12158B1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40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9C2DB-A1B8-7608-1F50-9CC2EDA58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9FBA7-C768-A97C-6A07-EC5680653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EEB30-A97A-CBF6-695E-070D522A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F19B8-E2DE-D674-7574-637E37AD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E824-49E1-C82C-9920-74B7DD31F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7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0474AA-2AC7-C3C8-2E4D-D2B16E069C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BE78EF-DA1F-E30D-8CD0-89F3CC1E7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F947F-007C-01ED-DA0B-796ADC37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B171-FABF-410D-97B2-7D9AAE8C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0E0AD-193B-1453-8B87-82C70D2A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7660F-A4E3-A8E2-8AB2-050B10A6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DBCA5-AFAB-5C2C-C6BA-9EB7674C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77C42-A8B8-F831-178F-2942817BF1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CBD91-BFAB-4C42-B9B2-6A9A807B994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9385B-DB91-E879-3045-3A27C224D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692B-C8A6-233D-5E1A-BF50FDD3F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F3021-0F90-4978-9EEE-C3024DCBA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8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1002B-CED3-CF2B-59EA-7FDC9D824824}"/>
              </a:ext>
            </a:extLst>
          </p:cNvPr>
          <p:cNvSpPr txBox="1"/>
          <p:nvPr/>
        </p:nvSpPr>
        <p:spPr>
          <a:xfrm>
            <a:off x="825500" y="1651000"/>
            <a:ext cx="10541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4200" b="1">
                <a:solidFill>
                  <a:srgbClr val="FFFFFF"/>
                </a:solidFill>
                <a:latin typeface="Arial" panose="020B0604020202020204" pitchFamily="34" charset="0"/>
              </a:rPr>
              <a:t>Sinh tín hiệu PPG theo nhịp tim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D1B38-C628-959E-B370-CE9EDD76C5B0}"/>
              </a:ext>
            </a:extLst>
          </p:cNvPr>
          <p:cNvSpPr txBox="1"/>
          <p:nvPr/>
        </p:nvSpPr>
        <p:spPr>
          <a:xfrm>
            <a:off x="825500" y="3683000"/>
            <a:ext cx="1047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>
                <a:solidFill>
                  <a:srgbClr val="77DDD0"/>
                </a:solidFill>
                <a:latin typeface="Arial" panose="020B0604020202020204" pitchFamily="34" charset="0"/>
              </a:rPr>
              <a:t>Mạng tự mã hóa biến phân có điều kiện một chiều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80212-6ADF-134B-9EAE-3B8E61DC10E8}"/>
              </a:ext>
            </a:extLst>
          </p:cNvPr>
          <p:cNvSpPr txBox="1"/>
          <p:nvPr/>
        </p:nvSpPr>
        <p:spPr>
          <a:xfrm>
            <a:off x="825500" y="4953000"/>
            <a:ext cx="10477500" cy="113877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>
                <a:solidFill>
                  <a:srgbClr val="E1ECF5"/>
                </a:solidFill>
                <a:latin typeface="Arial" panose="020B0604020202020204" pitchFamily="34" charset="0"/>
              </a:rPr>
              <a:t>Phạm Đăng Quang   •   23110143</a:t>
            </a:r>
          </a:p>
          <a:p>
            <a:pPr>
              <a:spcAft>
                <a:spcPts val="1200"/>
              </a:spcAft>
            </a:pPr>
            <a:r>
              <a:rPr lang="en-US">
                <a:solidFill>
                  <a:srgbClr val="E1ECF5"/>
                </a:solidFill>
                <a:latin typeface="Arial" panose="020B0604020202020204" pitchFamily="34" charset="0"/>
              </a:rPr>
              <a:t>Học phần Trí tuệ nhân tạo cho IoT</a:t>
            </a:r>
          </a:p>
          <a:p>
            <a:pPr>
              <a:spcAft>
                <a:spcPts val="1200"/>
              </a:spcAft>
            </a:pPr>
            <a:r>
              <a:rPr lang="en-US">
                <a:solidFill>
                  <a:srgbClr val="E1ECF5"/>
                </a:solidFill>
                <a:latin typeface="Arial" panose="020B0604020202020204" pitchFamily="34" charset="0"/>
              </a:rPr>
              <a:t>Giảng viên: ThS. Hồ Nhựt Minh</a:t>
            </a:r>
          </a:p>
        </p:txBody>
      </p:sp>
    </p:spTree>
    <p:extLst>
      <p:ext uri="{BB962C8B-B14F-4D97-AF65-F5344CB8AC3E}">
        <p14:creationId xmlns:p14="http://schemas.microsoft.com/office/powerpoint/2010/main" val="1323076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0D72E2-8565-B27A-F95B-64D48F9ED0D3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Bài toán và sản phẩm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C736F-D479-CE21-C21F-1D93F33C5428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000E9-B879-B358-D5EA-E94CB2A53779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Sinh cửa sổ PPG mới từ nhịp tim mục tiêu và vector tiềm ẩn ngẫu nhiên.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A9E1A-3845-216E-6144-43B6481BA756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Mỗi cửa sổ dài 8 giây, gồm 512 mẫu tại 64 Hz.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72FD4-7BB6-BBAB-C867-59B167AA911C}"/>
              </a:ext>
            </a:extLst>
          </p:cNvPr>
          <p:cNvSpPr txBox="1"/>
          <p:nvPr/>
        </p:nvSpPr>
        <p:spPr>
          <a:xfrm>
            <a:off x="762000" y="3898900"/>
            <a:ext cx="10604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Sản phẩm gồm bộ sinh cVAE, đối chuẩn hai Gaussian, kết quả đánh giá và web trình diễn.</a:t>
            </a:r>
          </a:p>
        </p:txBody>
      </p:sp>
    </p:spTree>
    <p:extLst>
      <p:ext uri="{BB962C8B-B14F-4D97-AF65-F5344CB8AC3E}">
        <p14:creationId xmlns:p14="http://schemas.microsoft.com/office/powerpoint/2010/main" val="171675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FA79BF-E2FE-2D77-A1FF-373581853846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Quy trình thực hiện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4652C4-52B1-9C59-CB4D-F98C7D073ED4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9AB2C-2A05-5B35-E204-39193A8F6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7" y="1460500"/>
            <a:ext cx="9721186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A61DE2-51D9-D0C4-EE07-F64242A43AB7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700">
                <a:solidFill>
                  <a:srgbClr val="485767"/>
                </a:solidFill>
                <a:latin typeface="Arial" panose="020B0604020202020204" pitchFamily="34" charset="0"/>
              </a:rPr>
              <a:t>Từ dữ liệu thực đến mô hình tạo sinh và đánh giá theo nhịp tim.</a:t>
            </a:r>
          </a:p>
        </p:txBody>
      </p:sp>
    </p:spTree>
    <p:extLst>
      <p:ext uri="{BB962C8B-B14F-4D97-AF65-F5344CB8AC3E}">
        <p14:creationId xmlns:p14="http://schemas.microsoft.com/office/powerpoint/2010/main" val="30873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C9D90-3093-6A10-62CC-F8E37408E0FC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Tập dữ liệu PPG-DaLiA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CC336-7880-C034-0C25-3990DFD42EC4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45858-E4DE-1601-C379-2361F3E93B14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15 người tham gia với dữ liệu sinh hoạt hằng ngày.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2A941-C092-41BB-8776-83155B83E0ED}"/>
              </a:ext>
            </a:extLst>
          </p:cNvPr>
          <p:cNvSpPr txBox="1"/>
          <p:nvPr/>
        </p:nvSpPr>
        <p:spPr>
          <a:xfrm>
            <a:off x="762000" y="2806700"/>
            <a:ext cx="10604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BVP cổ tay 64 Hz là tín hiệu đầu vào. HR tham chiếu được xây dựng từ ECG ngực.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EFE07-2F24-8BF3-78C1-3CA2FF29CD91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Cửa sổ 8 giây, bước trượt 2 giây. Mỗi fold giữ 64.667 cửa sổ hợp lệ.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4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C1341E-FB77-C5F7-C40D-165C01172DC5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3200" b="1">
                <a:solidFill>
                  <a:srgbClr val="11273C"/>
                </a:solidFill>
                <a:latin typeface="Arial" panose="020B0604020202020204" pitchFamily="34" charset="0"/>
              </a:rPr>
              <a:t>Chia dữ liệu theo người</a:t>
            </a:r>
            <a:endParaRPr lang="en-US" sz="3200" b="1">
              <a:solidFill>
                <a:srgbClr val="11273C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328C0-D017-92F5-574C-4F36DB991F46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1BA53-251B-3192-F015-9F421B351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43" y="1460500"/>
            <a:ext cx="8927715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DF4FC8-0BA8-8089-B9B3-C0A9522D2659}"/>
              </a:ext>
            </a:extLst>
          </p:cNvPr>
          <p:cNvSpPr txBox="1"/>
          <p:nvPr/>
        </p:nvSpPr>
        <p:spPr>
          <a:xfrm>
            <a:off x="698500" y="5740400"/>
            <a:ext cx="10795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1700">
                <a:solidFill>
                  <a:srgbClr val="485767"/>
                </a:solidFill>
                <a:latin typeface="Arial" panose="020B0604020202020204" pitchFamily="34" charset="0"/>
              </a:rPr>
              <a:t>5 fold với 9 người train, 3 người validation và 3 người test.</a:t>
            </a:r>
          </a:p>
          <a:p>
            <a:pPr>
              <a:spcAft>
                <a:spcPts val="1200"/>
              </a:spcAft>
            </a:pPr>
            <a:r>
              <a:rPr lang="vi-VN" sz="1700">
                <a:solidFill>
                  <a:srgbClr val="485767"/>
                </a:solidFill>
                <a:latin typeface="Arial" panose="020B0604020202020204" pitchFamily="34" charset="0"/>
              </a:rPr>
              <a:t>Mỗi fold có normalization, bộ đo HR và checkpoint riêng.</a:t>
            </a:r>
            <a:endParaRPr lang="en-US" sz="17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04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EFE35-CBFD-7597-6CC7-28AF26A3F202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Tiền xử lý tín hiệu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00602-B83B-2DAC-830B-4AD752CA6568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1F644-1013-3F0F-06A5-131D2ED2DEE8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Căn cửa sổ PPG với nhãn HR tham chiếu.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843A1-F0B8-79D5-5045-8A542B13CA87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Lọc Butterworth bậc 4 trong dải 0,5–8 Hz, xử lý riêng từng đoạn hữu hạn.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BCBC6-E696-3579-FC2F-A0BFC10188B0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Kiểm tra biên lọc, dữ liệu thiếu và tín hiệu hằng.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E70D3C-C947-D9FA-75D1-9031BBFDD20B}"/>
              </a:ext>
            </a:extLst>
          </p:cNvPr>
          <p:cNvSpPr txBox="1"/>
          <p:nvPr/>
        </p:nvSpPr>
        <p:spPr>
          <a:xfrm>
            <a:off x="762000" y="49911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Chuẩn hóa theo thống kê train. Validation và test dùng cùng thống kê.</a:t>
            </a:r>
          </a:p>
        </p:txBody>
      </p:sp>
    </p:spTree>
    <p:extLst>
      <p:ext uri="{BB962C8B-B14F-4D97-AF65-F5344CB8AC3E}">
        <p14:creationId xmlns:p14="http://schemas.microsoft.com/office/powerpoint/2010/main" val="75256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05AA91-D751-677B-EA5E-C6AE83B5F81E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Kiến trúc 1D-cVAE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80B5C-59E3-03D8-0B60-AF2BE9477130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81BF4-8E75-5C3B-BB21-2B519CFD7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016" y="1460501"/>
            <a:ext cx="7913967" cy="4127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382590-008A-F406-B4C9-935B9C1E76D3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700">
                <a:solidFill>
                  <a:srgbClr val="485767"/>
                </a:solidFill>
                <a:latin typeface="Arial" panose="020B0604020202020204" pitchFamily="34" charset="0"/>
              </a:rPr>
              <a:t>Encoder học phân phối tiềm ẩn. Decoder sinh 512 mẫu từ z và điều kiện c = HR/60.</a:t>
            </a:r>
          </a:p>
        </p:txBody>
      </p:sp>
    </p:spTree>
    <p:extLst>
      <p:ext uri="{BB962C8B-B14F-4D97-AF65-F5344CB8AC3E}">
        <p14:creationId xmlns:p14="http://schemas.microsoft.com/office/powerpoint/2010/main" val="421800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C1122C-E77D-0988-CA65-1E91268087FD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Hai chế độ của mô hình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4E7BA-B9F4-5834-EFB8-43EE9C44CC9C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74E950-7ACF-6892-115B-7AAE40893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875027"/>
              </p:ext>
            </p:extLst>
          </p:nvPr>
        </p:nvGraphicFramePr>
        <p:xfrm>
          <a:off x="698500" y="1587500"/>
          <a:ext cx="10795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333">
                  <a:extLst>
                    <a:ext uri="{9D8B030D-6E8A-4147-A177-3AD203B41FA5}">
                      <a16:colId xmlns:a16="http://schemas.microsoft.com/office/drawing/2014/main" val="2522444998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3550611374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35655105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Thuộc tính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Tái tạo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Sinh tự do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5354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Đầu vào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PPG thật và HR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HR và seed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7215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Vector z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Posterior mean </a:t>
                      </a:r>
                      <a:r>
                        <a:rPr lang="el-GR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μ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Phân phối N(0,I)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0617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Đánh giá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RMSE ghép cặp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MAE HR, V, A₃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563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Mục đích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Biểu diễn cửa sổ thật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Tạo cửa sổ PPG mới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094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010A60-8434-4B78-B72D-A069FEB253B5}"/>
              </a:ext>
            </a:extLst>
          </p:cNvPr>
          <p:cNvSpPr txBox="1"/>
          <p:nvPr/>
        </p:nvSpPr>
        <p:spPr>
          <a:xfrm>
            <a:off x="698500" y="4699000"/>
            <a:ext cx="1079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900">
                <a:solidFill>
                  <a:srgbClr val="485767"/>
                </a:solidFill>
                <a:latin typeface="Arial" panose="020B0604020202020204" pitchFamily="34" charset="0"/>
              </a:rPr>
              <a:t>Web sử dụng decoder ở chế độ sinh tự do.</a:t>
            </a:r>
          </a:p>
        </p:txBody>
      </p:sp>
    </p:spTree>
    <p:extLst>
      <p:ext uri="{BB962C8B-B14F-4D97-AF65-F5344CB8AC3E}">
        <p14:creationId xmlns:p14="http://schemas.microsoft.com/office/powerpoint/2010/main" val="21697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D4CFCE-E2F0-131B-6E5F-EF8570ED4B58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Huấn luyện và ràng buộc HR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35EF8-EF99-A882-2328-F5A619BA2A77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0BB2C-C141-355C-8022-1BC78E942040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Hàm mất mát: L = Lrec + </a:t>
            </a:r>
            <a:r>
              <a:rPr lang="el-GR" sz="2300">
                <a:solidFill>
                  <a:srgbClr val="485767"/>
                </a:solidFill>
                <a:latin typeface="Arial" panose="020B0604020202020204" pitchFamily="34" charset="0"/>
              </a:rPr>
              <a:t>β</a:t>
            </a: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LKL + </a:t>
            </a:r>
            <a:r>
              <a:rPr lang="el-GR" sz="2300">
                <a:solidFill>
                  <a:srgbClr val="485767"/>
                </a:solidFill>
                <a:latin typeface="Arial" panose="020B0604020202020204" pitchFamily="34" charset="0"/>
              </a:rPr>
              <a:t>λ</a:t>
            </a: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HR LHR.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C577E-C376-8AEA-0E5B-117B6F7F46A6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Mạng HR phụ trợ được cố định trọng số khi huấn luyện cVAE.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DB0ED-AC8D-A0F8-5916-06B3E4D7CF42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Adam, learning rate 10⁻³, batch size 128, tối đa 100 epoch.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A23903-0A63-7D3E-A46D-C75785484176}"/>
              </a:ext>
            </a:extLst>
          </p:cNvPr>
          <p:cNvSpPr txBox="1"/>
          <p:nvPr/>
        </p:nvSpPr>
        <p:spPr>
          <a:xfrm>
            <a:off x="762000" y="49911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Chọn checkpoint theo validation. Mô hình cơ sở chạy seed 42, 43 và 44.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96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23BFE-0CC6-3EBC-C88F-74A419659C35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Diễn biến huấn luyện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7567B-B36D-DA29-9B35-D8D3D89685C7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9697B-16E8-B930-0504-4F26157CA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709478"/>
            <a:ext cx="10795000" cy="36295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2341F-7A02-3C85-61CD-471F2E568BA3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700">
                <a:solidFill>
                  <a:srgbClr val="485767"/>
                </a:solidFill>
                <a:latin typeface="Arial" panose="020B0604020202020204" pitchFamily="34" charset="0"/>
              </a:rPr>
              <a:t>Theo dõi riêng sai số tái tạo, KL và HR loss trên train và validation.</a:t>
            </a:r>
          </a:p>
        </p:txBody>
      </p:sp>
    </p:spTree>
    <p:extLst>
      <p:ext uri="{BB962C8B-B14F-4D97-AF65-F5344CB8AC3E}">
        <p14:creationId xmlns:p14="http://schemas.microsoft.com/office/powerpoint/2010/main" val="48103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3EB51-3C33-BAFD-B368-5D9951CCA487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Đối chuẩn và thiết kế đánh giá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B1DD2-247C-6025-979A-DD5040CF642F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06812-F9B5-DDDF-6670-49FF175E5380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Hai Gaussian đặt chu kỳ theo HR và lấy tham số hình thái từ dữ liệu train.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8726B-4B30-8C6B-5BA7-F3C7271177C9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1.000 cửa sổ tại mỗi HR 60, 80 và 120 bpm trong mỗi run.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21684-9A65-A4BB-92DE-89F399F8740D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5 fold, 3 seed cho cVAE và Gaussian. Hai ablation sử dụng seed 42.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A67EF6-E240-240E-96EF-56CE554CEFE8}"/>
              </a:ext>
            </a:extLst>
          </p:cNvPr>
          <p:cNvSpPr txBox="1"/>
          <p:nvPr/>
        </p:nvSpPr>
        <p:spPr>
          <a:xfrm>
            <a:off x="762000" y="49911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40 run, tổng 120.000 cửa sổ sinh.</a:t>
            </a:r>
          </a:p>
        </p:txBody>
      </p:sp>
    </p:spTree>
    <p:extLst>
      <p:ext uri="{BB962C8B-B14F-4D97-AF65-F5344CB8AC3E}">
        <p14:creationId xmlns:p14="http://schemas.microsoft.com/office/powerpoint/2010/main" val="286723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79B6B-B5D2-119D-7D6A-33406AE4BC89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Chỉ số đánh giá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7FB21-EB14-41D2-CF4E-669B1864E815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9E5D46-17CE-38E2-0900-E693923C2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52419"/>
              </p:ext>
            </p:extLst>
          </p:nvPr>
        </p:nvGraphicFramePr>
        <p:xfrm>
          <a:off x="698500" y="1587500"/>
          <a:ext cx="10795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0">
                  <a:extLst>
                    <a:ext uri="{9D8B030D-6E8A-4147-A177-3AD203B41FA5}">
                      <a16:colId xmlns:a16="http://schemas.microsoft.com/office/drawing/2014/main" val="942417288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265756634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Chỉ số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Ý nghĩa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322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MAE HR (bpm)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Sai lệch HR trung bình trên cửa sổ đo được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7963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V (%)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Tỷ lệ cửa sổ đo được HR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5544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A₃ (%)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Tỷ lệ toàn bộ cửa sổ có sai lệch ≤ 3 bpm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0662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vi-VN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RMSE (đơn vị Z)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Sai số tái tạo từng điểm trên cặp PPG thật–tái tạo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15028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Hình thái và đa dạng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Độ rộng xung, thời gian lên đỉnh, phân tán nhịp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33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67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3264B-EB09-9851-1ECE-BC005565A439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Kết quả sai số nhịp tim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526D7-994C-50FF-132B-19BF932B9577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E2E947-4A20-FC88-C942-5EEA97D8B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66061"/>
              </p:ext>
            </p:extLst>
          </p:nvPr>
        </p:nvGraphicFramePr>
        <p:xfrm>
          <a:off x="698500" y="1587500"/>
          <a:ext cx="10795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333">
                  <a:extLst>
                    <a:ext uri="{9D8B030D-6E8A-4147-A177-3AD203B41FA5}">
                      <a16:colId xmlns:a16="http://schemas.microsoft.com/office/drawing/2014/main" val="3133433602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3173979198"/>
                    </a:ext>
                  </a:extLst>
                </a:gridCol>
                <a:gridCol w="3598333">
                  <a:extLst>
                    <a:ext uri="{9D8B030D-6E8A-4147-A177-3AD203B41FA5}">
                      <a16:colId xmlns:a16="http://schemas.microsoft.com/office/drawing/2014/main" val="4149978696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HR mục tiêu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cVAE MAE ± SD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Gaussian MAE ± SD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3390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60 bpm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17,88 ± 4,59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7,07 ± 2,94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81914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80 bpm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8,47 ± 1,58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2,90 ± 0,99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71679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120 bpm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34,09 ± 4,36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0,00 ± 0,00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0909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7B9AC8-2A51-A2C3-908A-38C8E6D702FE}"/>
              </a:ext>
            </a:extLst>
          </p:cNvPr>
          <p:cNvSpPr txBox="1"/>
          <p:nvPr/>
        </p:nvSpPr>
        <p:spPr>
          <a:xfrm>
            <a:off x="698500" y="4127500"/>
            <a:ext cx="1079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1900">
                <a:solidFill>
                  <a:srgbClr val="485767"/>
                </a:solidFill>
                <a:latin typeface="Arial" panose="020B0604020202020204" pitchFamily="34" charset="0"/>
              </a:rPr>
              <a:t>cVAE có sai số thấp nhất tại 80 bpm trong ba điều kiện khảo sát.</a:t>
            </a:r>
          </a:p>
          <a:p>
            <a:pPr>
              <a:spcAft>
                <a:spcPts val="1200"/>
              </a:spcAft>
            </a:pPr>
            <a:r>
              <a:rPr lang="vi-VN" sz="1900">
                <a:solidFill>
                  <a:srgbClr val="485767"/>
                </a:solidFill>
                <a:latin typeface="Arial" panose="020B0604020202020204" pitchFamily="34" charset="0"/>
              </a:rPr>
              <a:t>Đơn vị bpm. SD mô tả biến thiên giữa năm fold.</a:t>
            </a:r>
            <a:endParaRPr lang="en-US" sz="19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760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0B3C8-5E24-34D3-1035-3B18C518318C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3200" b="1">
                <a:solidFill>
                  <a:srgbClr val="11273C"/>
                </a:solidFill>
                <a:latin typeface="Arial" panose="020B0604020202020204" pitchFamily="34" charset="0"/>
              </a:rPr>
              <a:t>Tỷ lệ đo được và sai lệch trong 3 bpm</a:t>
            </a:r>
            <a:endParaRPr lang="en-US" sz="3200" b="1">
              <a:solidFill>
                <a:srgbClr val="11273C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D7685-7D2F-6F57-9B6B-E0A8C7698EE7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4043B3-5CDB-4A75-0A36-7C6D8172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038692"/>
              </p:ext>
            </p:extLst>
          </p:nvPr>
        </p:nvGraphicFramePr>
        <p:xfrm>
          <a:off x="698500" y="1587500"/>
          <a:ext cx="10795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267318033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749713761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711467531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25454183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HR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 cVAE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A₃ cVAE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A₃ Gaussian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0532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5,53%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88,09%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14024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99,99%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21,15%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95,30%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7889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120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100,00%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1,95%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99,39%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290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BCDE3C-24E3-7DCD-334D-1C270FC96975}"/>
              </a:ext>
            </a:extLst>
          </p:cNvPr>
          <p:cNvSpPr txBox="1"/>
          <p:nvPr/>
        </p:nvSpPr>
        <p:spPr>
          <a:xfrm>
            <a:off x="698500" y="4127500"/>
            <a:ext cx="1079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900">
                <a:solidFill>
                  <a:srgbClr val="485767"/>
                </a:solidFill>
                <a:latin typeface="Arial" panose="020B0604020202020204" pitchFamily="34" charset="0"/>
              </a:rPr>
              <a:t>V và A₃ mô tả hai thuộc tính riêng: khả năng đo và độ gần HR mục tiêu.</a:t>
            </a:r>
          </a:p>
        </p:txBody>
      </p:sp>
    </p:spTree>
    <p:extLst>
      <p:ext uri="{BB962C8B-B14F-4D97-AF65-F5344CB8AC3E}">
        <p14:creationId xmlns:p14="http://schemas.microsoft.com/office/powerpoint/2010/main" val="3035370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8ADEFB-D4A8-AA37-3642-4EA2F4F245F3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Tái tạo tín hiệu PPG thực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65250-8CA0-394F-0BFF-18C8C04D6569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6597B-937E-70D1-2EF6-621444562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79" y="1460500"/>
            <a:ext cx="8357441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CE8D5-D1DA-82D8-5CC2-3B25CB948230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1700">
                <a:solidFill>
                  <a:srgbClr val="485767"/>
                </a:solidFill>
                <a:latin typeface="Arial" panose="020B0604020202020204" pitchFamily="34" charset="0"/>
              </a:rPr>
              <a:t>Ba cửa sổ test đầu tiên của fold 1 seed 42. RMSE trung bình qua 5 fold: 0,527 đơn vị Z.</a:t>
            </a:r>
            <a:endParaRPr lang="en-US" sz="17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56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2FDDA-5CF3-A68B-E166-9E1B99672704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Biến thiên hình dạng tín hiệu sinh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71B41-7A56-6B61-4E84-9A26A91D3416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12B830-4E33-4C5E-D6FC-EFDB159A7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47" y="1460500"/>
            <a:ext cx="7579506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9AB05B-B1B6-43A1-85EE-2E862792E960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700">
                <a:solidFill>
                  <a:srgbClr val="485767"/>
                </a:solidFill>
                <a:latin typeface="Arial" panose="020B0604020202020204" pitchFamily="34" charset="0"/>
              </a:rPr>
              <a:t>Giữ z và đổi HR để khảo sát điều kiện. Giữ HR và đổi z để khảo sát biến thiên dạng sóng.</a:t>
            </a:r>
          </a:p>
        </p:txBody>
      </p:sp>
    </p:spTree>
    <p:extLst>
      <p:ext uri="{BB962C8B-B14F-4D97-AF65-F5344CB8AC3E}">
        <p14:creationId xmlns:p14="http://schemas.microsoft.com/office/powerpoint/2010/main" val="2797304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FD26E9-7AB0-4646-3BE5-C65C1EAE2ABE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Triển khai decoder trên CPU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9CB5B-917E-FF5E-3F67-78C25CE33C17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A5BC31-87D5-F62D-5105-736D7CACF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854345"/>
              </p:ext>
            </p:extLst>
          </p:nvPr>
        </p:nvGraphicFramePr>
        <p:xfrm>
          <a:off x="698500" y="1587500"/>
          <a:ext cx="10795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7500">
                  <a:extLst>
                    <a:ext uri="{9D8B030D-6E8A-4147-A177-3AD203B41FA5}">
                      <a16:colId xmlns:a16="http://schemas.microsoft.com/office/drawing/2014/main" val="39297748"/>
                    </a:ext>
                  </a:extLst>
                </a:gridCol>
                <a:gridCol w="5397500">
                  <a:extLst>
                    <a:ext uri="{9D8B030D-6E8A-4147-A177-3AD203B41FA5}">
                      <a16:colId xmlns:a16="http://schemas.microsoft.com/office/drawing/2014/main" val="187555755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Thuộc tính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Kết quả</a:t>
                      </a:r>
                    </a:p>
                  </a:txBody>
                  <a:tcPr marL="152400" marR="127000" marT="101600" marB="63500" anchor="ctr">
                    <a:solidFill>
                      <a:srgbClr val="11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401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Tổng tham số cVAE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366.625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241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Tham số decoder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84.081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57837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Tệp decoder FP32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0,340 MB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54317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P95 decoder trên máy thử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0,831–1,480 ms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30552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Cấu hình đo</a:t>
                      </a: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800">
                          <a:solidFill>
                            <a:srgbClr val="11273C"/>
                          </a:solidFill>
                          <a:latin typeface="Arial" panose="020B0604020202020204" pitchFamily="34" charset="0"/>
                        </a:rPr>
                        <a:t>CPU một luồng, batch 1, 1.000 lượt đo</a:t>
                      </a:r>
                      <a:endParaRPr lang="en-US" sz="1800">
                        <a:solidFill>
                          <a:srgbClr val="11273C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152400" marR="127000" marT="101600" marB="63500" anchor="ctr">
                    <a:solidFill>
                      <a:srgbClr val="F0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8012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15FCD7-E1DF-BFF8-258C-B36F7BE531FB}"/>
              </a:ext>
            </a:extLst>
          </p:cNvPr>
          <p:cNvSpPr txBox="1"/>
          <p:nvPr/>
        </p:nvSpPr>
        <p:spPr>
          <a:xfrm>
            <a:off x="698500" y="5270500"/>
            <a:ext cx="1079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1900">
                <a:solidFill>
                  <a:srgbClr val="485767"/>
                </a:solidFill>
                <a:latin typeface="Arial" panose="020B0604020202020204" pitchFamily="34" charset="0"/>
              </a:rPr>
              <a:t>Decoder phù hợp mục tiêu kích thước và thời gian suy luận của đề cương.</a:t>
            </a:r>
            <a:endParaRPr lang="en-US" sz="19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651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CD294-639C-15FD-F2E6-0B9434539BD9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Web demo PPG Studio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AD5CB9-1179-893B-1E3C-558DF67B9C4A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B4D03-CD46-E52C-3D89-797ECDFCC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24000"/>
            <a:ext cx="5316932" cy="469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1A5E68-9FFD-D4FC-A7DE-A0A902A5FB79}"/>
              </a:ext>
            </a:extLst>
          </p:cNvPr>
          <p:cNvSpPr txBox="1"/>
          <p:nvPr/>
        </p:nvSpPr>
        <p:spPr>
          <a:xfrm>
            <a:off x="6477000" y="1714500"/>
            <a:ext cx="5016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>
                <a:solidFill>
                  <a:srgbClr val="485767"/>
                </a:solidFill>
                <a:latin typeface="Arial" panose="020B0604020202020204" pitchFamily="34" charset="0"/>
              </a:rPr>
              <a:t>Chọn HR, seed và 1, 5 hoặc 20 cửa sổ.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EC00BC-1CB0-D588-B82D-4218BD30ABCB}"/>
              </a:ext>
            </a:extLst>
          </p:cNvPr>
          <p:cNvSpPr txBox="1"/>
          <p:nvPr/>
        </p:nvSpPr>
        <p:spPr>
          <a:xfrm>
            <a:off x="6477000" y="2794000"/>
            <a:ext cx="5016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000">
                <a:solidFill>
                  <a:srgbClr val="485767"/>
                </a:solidFill>
                <a:latin typeface="Arial" panose="020B0604020202020204" pitchFamily="34" charset="0"/>
              </a:rPr>
              <a:t>Quan sát cVAE xanh lá và Gaussian xanh dương trên cùng trục 0–8 giây.</a:t>
            </a:r>
            <a:endParaRPr lang="en-US" sz="20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F168D-D2B0-7239-A2C4-91378A9E6259}"/>
              </a:ext>
            </a:extLst>
          </p:cNvPr>
          <p:cNvSpPr txBox="1"/>
          <p:nvPr/>
        </p:nvSpPr>
        <p:spPr>
          <a:xfrm>
            <a:off x="6477000" y="3873500"/>
            <a:ext cx="5016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>
                <a:solidFill>
                  <a:srgbClr val="485767"/>
                </a:solidFill>
                <a:latin typeface="Arial" panose="020B0604020202020204" pitchFamily="34" charset="0"/>
              </a:rPr>
              <a:t>Hiển thị HR mục tiêu, HR đo độc lập, MAE, V và A₃.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14780-D8E3-F4DA-1417-75AB79D34B0F}"/>
              </a:ext>
            </a:extLst>
          </p:cNvPr>
          <p:cNvSpPr txBox="1"/>
          <p:nvPr/>
        </p:nvSpPr>
        <p:spPr>
          <a:xfrm>
            <a:off x="6477000" y="4953000"/>
            <a:ext cx="5016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>
                <a:solidFill>
                  <a:srgbClr val="485767"/>
                </a:solidFill>
                <a:latin typeface="Arial" panose="020B0604020202020204" pitchFamily="34" charset="0"/>
              </a:rPr>
              <a:t>Xuất PNG, CSV và JSON. Demo trực tiếp tại http://127.0.0.1:8000.</a:t>
            </a:r>
          </a:p>
        </p:txBody>
      </p:sp>
    </p:spTree>
    <p:extLst>
      <p:ext uri="{BB962C8B-B14F-4D97-AF65-F5344CB8AC3E}">
        <p14:creationId xmlns:p14="http://schemas.microsoft.com/office/powerpoint/2010/main" val="3942013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95B48-DC67-CA94-4F9C-828229D77290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Kết quả suy luận dùng trong web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ABC58-B00C-0106-D136-A072362F41BC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C3743-C2D3-9739-FF02-F0BA0553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062" y="1460500"/>
            <a:ext cx="5323876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B8437B-8B09-583C-33CA-F8DD99134D57}"/>
              </a:ext>
            </a:extLst>
          </p:cNvPr>
          <p:cNvSpPr txBox="1"/>
          <p:nvPr/>
        </p:nvSpPr>
        <p:spPr>
          <a:xfrm>
            <a:off x="698500" y="5740400"/>
            <a:ext cx="1079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700">
                <a:solidFill>
                  <a:srgbClr val="485767"/>
                </a:solidFill>
                <a:latin typeface="Arial" panose="020B0604020202020204" pitchFamily="34" charset="0"/>
              </a:rPr>
              <a:t>HR 60, 80 và 120 bpm, latent seed 42. Mỗi điều kiện tạo một cửa sổ.</a:t>
            </a:r>
          </a:p>
        </p:txBody>
      </p:sp>
    </p:spTree>
    <p:extLst>
      <p:ext uri="{BB962C8B-B14F-4D97-AF65-F5344CB8AC3E}">
        <p14:creationId xmlns:p14="http://schemas.microsoft.com/office/powerpoint/2010/main" val="3822844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D61D0-A6D7-46E7-B94D-B9B24F2D5754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3200" b="1">
                <a:solidFill>
                  <a:srgbClr val="11273C"/>
                </a:solidFill>
                <a:latin typeface="Arial" panose="020B0604020202020204" pitchFamily="34" charset="0"/>
              </a:rPr>
              <a:t>Sản phẩm và hướng phát triển</a:t>
            </a:r>
            <a:endParaRPr lang="en-US" sz="3200" b="1">
              <a:solidFill>
                <a:srgbClr val="11273C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FCA6C-4381-983D-996A-8DAEA2CFA8C9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5EAAD-FBDC-C335-4F52-EBB7CC833ED2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Đã xây dựng quy trình dữ liệu, cVAE một chiều và bộ sinh hai Gaussian.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17700-6171-32B9-BAC7-BEDD358A610D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Đã tổ chức đánh giá theo người, lưu checkpoint và kết quả thực nghiệm.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3DC1E-D998-3FB4-314E-896646DA56DA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Web hỗ trợ sinh, đo nhịp và xuất kết quả trên CPU.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1B34E-34E8-3B0F-6FC0-4AEC0FA27341}"/>
              </a:ext>
            </a:extLst>
          </p:cNvPr>
          <p:cNvSpPr txBox="1"/>
          <p:nvPr/>
        </p:nvSpPr>
        <p:spPr>
          <a:xfrm>
            <a:off x="762000" y="4991100"/>
            <a:ext cx="10604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2300">
                <a:solidFill>
                  <a:srgbClr val="485767"/>
                </a:solidFill>
                <a:latin typeface="Arial" panose="020B0604020202020204" pitchFamily="34" charset="0"/>
              </a:rPr>
              <a:t>Hướng phát triển: ràng buộc mẫu prior, mở rộng phép đo và tích hợp CPU gateway.</a:t>
            </a:r>
            <a:endParaRPr lang="en-US" sz="2300">
              <a:solidFill>
                <a:srgbClr val="48576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4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E1158-55CE-A98A-9E98-45121CA41B46}"/>
              </a:ext>
            </a:extLst>
          </p:cNvPr>
          <p:cNvSpPr txBox="1"/>
          <p:nvPr/>
        </p:nvSpPr>
        <p:spPr>
          <a:xfrm>
            <a:off x="660400" y="381000"/>
            <a:ext cx="1087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b="1">
                <a:solidFill>
                  <a:srgbClr val="11273C"/>
                </a:solidFill>
                <a:latin typeface="Arial" panose="020B0604020202020204" pitchFamily="34" charset="0"/>
              </a:rPr>
              <a:t>Mã nguồn và tài liệu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7C6A7-758E-03E8-A7E6-F542BBCDED98}"/>
              </a:ext>
            </a:extLst>
          </p:cNvPr>
          <p:cNvSpPr txBox="1"/>
          <p:nvPr/>
        </p:nvSpPr>
        <p:spPr>
          <a:xfrm>
            <a:off x="11264900" y="6464300"/>
            <a:ext cx="317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000">
                <a:solidFill>
                  <a:srgbClr val="485767"/>
                </a:solidFill>
                <a:latin typeface="Arial" panose="020B0604020202020204" pitchFamily="34" charset="0"/>
              </a:rPr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F086D-B016-526B-7EB8-8E2E81DA832F}"/>
              </a:ext>
            </a:extLst>
          </p:cNvPr>
          <p:cNvSpPr txBox="1"/>
          <p:nvPr/>
        </p:nvSpPr>
        <p:spPr>
          <a:xfrm>
            <a:off x="762000" y="1714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github.com/PhDQuang/AIoT-PhamDangQuang_23110143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D0657-D4B6-730E-09DF-74566A9E6053}"/>
              </a:ext>
            </a:extLst>
          </p:cNvPr>
          <p:cNvSpPr txBox="1"/>
          <p:nvPr/>
        </p:nvSpPr>
        <p:spPr>
          <a:xfrm>
            <a:off x="762000" y="28067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Notebook nguồn và bản đã thực thi: notebooks/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A1B8A-9458-FDF1-43A1-4BEDF38126C8}"/>
              </a:ext>
            </a:extLst>
          </p:cNvPr>
          <p:cNvSpPr txBox="1"/>
          <p:nvPr/>
        </p:nvSpPr>
        <p:spPr>
          <a:xfrm>
            <a:off x="762000" y="38989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Khởi động demo: scripts/start_web.ps1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55872-1CAB-D64F-6775-10099DA7C9BB}"/>
              </a:ext>
            </a:extLst>
          </p:cNvPr>
          <p:cNvSpPr txBox="1"/>
          <p:nvPr/>
        </p:nvSpPr>
        <p:spPr>
          <a:xfrm>
            <a:off x="762000" y="49911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300">
                <a:solidFill>
                  <a:srgbClr val="485767"/>
                </a:solidFill>
                <a:latin typeface="Arial" panose="020B0604020202020204" pitchFamily="34" charset="0"/>
              </a:rPr>
              <a:t>Báo cáo, PowerPoint và gói mã nguồn: PhamDangQuang_final</a:t>
            </a:r>
          </a:p>
        </p:txBody>
      </p:sp>
    </p:spTree>
    <p:extLst>
      <p:ext uri="{BB962C8B-B14F-4D97-AF65-F5344CB8AC3E}">
        <p14:creationId xmlns:p14="http://schemas.microsoft.com/office/powerpoint/2010/main" val="2414439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21AEB-B5CA-580E-4245-638C75D70EA9}"/>
              </a:ext>
            </a:extLst>
          </p:cNvPr>
          <p:cNvSpPr txBox="1"/>
          <p:nvPr/>
        </p:nvSpPr>
        <p:spPr>
          <a:xfrm>
            <a:off x="825500" y="1651000"/>
            <a:ext cx="10541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vi-VN" sz="4200" b="1">
                <a:solidFill>
                  <a:srgbClr val="FFFFFF"/>
                </a:solidFill>
                <a:latin typeface="Arial" panose="020B0604020202020204" pitchFamily="34" charset="0"/>
              </a:rPr>
              <a:t>Em xin chân thành cảm ơn</a:t>
            </a:r>
            <a:endParaRPr lang="en-US" sz="4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3140D-F065-49AF-7296-EAC01245A592}"/>
              </a:ext>
            </a:extLst>
          </p:cNvPr>
          <p:cNvSpPr txBox="1"/>
          <p:nvPr/>
        </p:nvSpPr>
        <p:spPr>
          <a:xfrm>
            <a:off x="825500" y="3683000"/>
            <a:ext cx="1047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>
                <a:solidFill>
                  <a:srgbClr val="77DDD0"/>
                </a:solidFill>
                <a:latin typeface="Arial" panose="020B0604020202020204" pitchFamily="34" charset="0"/>
              </a:rPr>
              <a:t>Kính mời thầy và các bạn trao đổi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A7E5B-D511-4FFA-65BC-EEAF30BC8E93}"/>
              </a:ext>
            </a:extLst>
          </p:cNvPr>
          <p:cNvSpPr txBox="1"/>
          <p:nvPr/>
        </p:nvSpPr>
        <p:spPr>
          <a:xfrm>
            <a:off x="825500" y="4953000"/>
            <a:ext cx="104775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>
                <a:solidFill>
                  <a:srgbClr val="E1ECF5"/>
                </a:solidFill>
                <a:latin typeface="Arial" panose="020B0604020202020204" pitchFamily="34" charset="0"/>
              </a:rPr>
              <a:t>Phạm Đăng Quang</a:t>
            </a:r>
          </a:p>
          <a:p>
            <a:pPr>
              <a:spcAft>
                <a:spcPts val="1200"/>
              </a:spcAft>
            </a:pPr>
            <a:r>
              <a:rPr lang="en-US">
                <a:solidFill>
                  <a:srgbClr val="E1ECF5"/>
                </a:solidFill>
                <a:latin typeface="Arial" panose="020B0604020202020204" pitchFamily="34" charset="0"/>
              </a:rPr>
              <a:t>23110143</a:t>
            </a:r>
          </a:p>
        </p:txBody>
      </p:sp>
    </p:spTree>
    <p:extLst>
      <p:ext uri="{BB962C8B-B14F-4D97-AF65-F5344CB8AC3E}">
        <p14:creationId xmlns:p14="http://schemas.microsoft.com/office/powerpoint/2010/main" val="92878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Office PowerPoint</Application>
  <PresentationFormat>Custom</PresentationFormat>
  <Paragraphs>199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Pham Dang Quang</dc:creator>
  <cp:lastModifiedBy>Pham Dang Quang</cp:lastModifiedBy>
  <cp:revision>1</cp:revision>
  <dcterms:created xsi:type="dcterms:W3CDTF">2026-10-05T15:39:45Z</dcterms:created>
  <dcterms:modified xsi:type="dcterms:W3CDTF">2026-10-05T15:39:45Z</dcterms:modified>
</cp:coreProperties>
</file>